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4" userDrawn="1">
          <p15:clr>
            <a:srgbClr val="A4A3A4"/>
          </p15:clr>
        </p15:guide>
        <p15:guide id="2" pos="3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0E5F6"/>
    <a:srgbClr val="F9E0CC"/>
    <a:srgbClr val="DEE7EF"/>
    <a:srgbClr val="F4FBFD"/>
    <a:srgbClr val="C7D7F1"/>
    <a:srgbClr val="9FB6E3"/>
    <a:srgbClr val="7F7664"/>
    <a:srgbClr val="C99358"/>
    <a:srgbClr val="6889B9"/>
    <a:srgbClr val="7F7F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34"/>
        <p:guide pos="3914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63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0" name="组合 209"/>
          <p:cNvGrpSpPr/>
          <p:nvPr/>
        </p:nvGrpSpPr>
        <p:grpSpPr>
          <a:xfrm>
            <a:off x="833120" y="5161280"/>
            <a:ext cx="3166745" cy="1553210"/>
            <a:chOff x="3212" y="8199"/>
            <a:chExt cx="4987" cy="2446"/>
          </a:xfrm>
        </p:grpSpPr>
        <p:sp>
          <p:nvSpPr>
            <p:cNvPr id="208" name="任意多边形 207"/>
            <p:cNvSpPr/>
            <p:nvPr/>
          </p:nvSpPr>
          <p:spPr>
            <a:xfrm>
              <a:off x="3212" y="8199"/>
              <a:ext cx="3039" cy="2447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039" h="2447">
                  <a:moveTo>
                    <a:pt x="258" y="0"/>
                  </a:moveTo>
                  <a:lnTo>
                    <a:pt x="3039" y="0"/>
                  </a:lnTo>
                  <a:lnTo>
                    <a:pt x="3039" y="2447"/>
                  </a:lnTo>
                  <a:lnTo>
                    <a:pt x="258" y="2447"/>
                  </a:lnTo>
                  <a:cubicBezTo>
                    <a:pt x="115" y="2447"/>
                    <a:pt x="0" y="2332"/>
                    <a:pt x="0" y="2189"/>
                  </a:cubicBezTo>
                  <a:lnTo>
                    <a:pt x="0" y="258"/>
                  </a:lnTo>
                  <a:cubicBezTo>
                    <a:pt x="0" y="115"/>
                    <a:pt x="115" y="0"/>
                    <a:pt x="258" y="0"/>
                  </a:cubicBezTo>
                  <a:close/>
                </a:path>
              </a:pathLst>
            </a:custGeom>
            <a:solidFill>
              <a:srgbClr val="D0E5F6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09" name="任意多边形 208"/>
            <p:cNvSpPr/>
            <p:nvPr/>
          </p:nvSpPr>
          <p:spPr>
            <a:xfrm>
              <a:off x="6251" y="8199"/>
              <a:ext cx="1948" cy="2447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948" h="2447">
                  <a:moveTo>
                    <a:pt x="0" y="0"/>
                  </a:moveTo>
                  <a:lnTo>
                    <a:pt x="1690" y="0"/>
                  </a:lnTo>
                  <a:cubicBezTo>
                    <a:pt x="1833" y="0"/>
                    <a:pt x="1948" y="115"/>
                    <a:pt x="1948" y="258"/>
                  </a:cubicBezTo>
                  <a:lnTo>
                    <a:pt x="1948" y="2189"/>
                  </a:lnTo>
                  <a:cubicBezTo>
                    <a:pt x="1948" y="2332"/>
                    <a:pt x="1833" y="2447"/>
                    <a:pt x="1690" y="2447"/>
                  </a:cubicBezTo>
                  <a:lnTo>
                    <a:pt x="0" y="24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9E0CC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sp>
        <p:nvSpPr>
          <p:cNvPr id="185" name="圆角矩形 184"/>
          <p:cNvSpPr/>
          <p:nvPr/>
        </p:nvSpPr>
        <p:spPr>
          <a:xfrm>
            <a:off x="4459605" y="5161280"/>
            <a:ext cx="2481580" cy="1553845"/>
          </a:xfrm>
          <a:prstGeom prst="roundRect">
            <a:avLst>
              <a:gd name="adj" fmla="val 10539"/>
            </a:avLst>
          </a:prstGeom>
          <a:solidFill>
            <a:srgbClr val="E4D5F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900">
              <a:solidFill>
                <a:schemeClr val="tx1"/>
              </a:solidFill>
            </a:endParaRPr>
          </a:p>
        </p:txBody>
      </p:sp>
      <p:sp>
        <p:nvSpPr>
          <p:cNvPr id="179" name="圆角矩形 178"/>
          <p:cNvSpPr/>
          <p:nvPr/>
        </p:nvSpPr>
        <p:spPr>
          <a:xfrm>
            <a:off x="7470140" y="5160645"/>
            <a:ext cx="2804160" cy="1554480"/>
          </a:xfrm>
          <a:prstGeom prst="roundRect">
            <a:avLst>
              <a:gd name="adj" fmla="val 10539"/>
            </a:avLst>
          </a:prstGeom>
          <a:solidFill>
            <a:srgbClr val="DDEAC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900">
              <a:solidFill>
                <a:schemeClr val="tx1"/>
              </a:solidFill>
            </a:endParaRPr>
          </a:p>
        </p:txBody>
      </p:sp>
      <p:sp>
        <p:nvSpPr>
          <p:cNvPr id="87" name="圆角矩形 86"/>
          <p:cNvSpPr/>
          <p:nvPr/>
        </p:nvSpPr>
        <p:spPr>
          <a:xfrm>
            <a:off x="483870" y="245745"/>
            <a:ext cx="6755130" cy="4554855"/>
          </a:xfrm>
          <a:prstGeom prst="roundRect">
            <a:avLst>
              <a:gd name="adj" fmla="val 6036"/>
            </a:avLst>
          </a:prstGeom>
          <a:solidFill>
            <a:srgbClr val="EAF2FC"/>
          </a:solidFill>
          <a:ln w="12700" cmpd="sng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t" anchorCtr="0"/>
          <a:p>
            <a:pPr algn="ctr"/>
            <a:r>
              <a:rPr lang="en-US" altLang="zh-CN" sz="1600" b="1" i="1">
                <a:solidFill>
                  <a:schemeClr val="accent1">
                    <a:lumMod val="50000"/>
                  </a:schemeClr>
                </a:solidFill>
              </a:rPr>
              <a:t>Dual-Stream Architecture</a:t>
            </a:r>
            <a:endParaRPr lang="en-US" altLang="zh-CN" sz="1600" b="1" i="1">
              <a:solidFill>
                <a:schemeClr val="accent1">
                  <a:lumMod val="50000"/>
                </a:schemeClr>
              </a:solidFill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1436370" y="847090"/>
            <a:ext cx="1209675" cy="3006090"/>
            <a:chOff x="3314" y="1334"/>
            <a:chExt cx="1905" cy="4734"/>
          </a:xfrm>
        </p:grpSpPr>
        <p:sp>
          <p:nvSpPr>
            <p:cNvPr id="16" name="圆角矩形 15"/>
            <p:cNvSpPr/>
            <p:nvPr/>
          </p:nvSpPr>
          <p:spPr>
            <a:xfrm>
              <a:off x="3314" y="1334"/>
              <a:ext cx="1714" cy="4735"/>
            </a:xfrm>
            <a:prstGeom prst="roundRect">
              <a:avLst/>
            </a:prstGeom>
            <a:solidFill>
              <a:srgbClr val="B9C6B4"/>
            </a:solidFill>
            <a:ln w="12700" cmpd="sng">
              <a:solidFill>
                <a:srgbClr val="42493F"/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 sz="900">
                <a:solidFill>
                  <a:schemeClr val="tx1"/>
                </a:solidFill>
              </a:endParaRPr>
            </a:p>
          </p:txBody>
        </p:sp>
        <p:sp>
          <p:nvSpPr>
            <p:cNvPr id="5" name="圆角矩形 4"/>
            <p:cNvSpPr/>
            <p:nvPr/>
          </p:nvSpPr>
          <p:spPr>
            <a:xfrm>
              <a:off x="3461" y="1546"/>
              <a:ext cx="1423" cy="610"/>
            </a:xfrm>
            <a:prstGeom prst="roundRect">
              <a:avLst/>
            </a:prstGeom>
            <a:solidFill>
              <a:srgbClr val="D5E1D3"/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900">
                  <a:solidFill>
                    <a:schemeClr val="tx1"/>
                  </a:solidFill>
                </a:rPr>
                <a:t>ConvBlock1</a:t>
              </a:r>
              <a:endParaRPr lang="en-US" altLang="zh-CN" sz="900">
                <a:solidFill>
                  <a:schemeClr val="tx1"/>
                </a:solidFill>
              </a:endParaRPr>
            </a:p>
            <a:p>
              <a:pPr algn="ctr"/>
              <a:r>
                <a:rPr lang="en-US" altLang="zh-CN" sz="900">
                  <a:solidFill>
                    <a:schemeClr val="tx1"/>
                  </a:solidFill>
                </a:rPr>
                <a:t>(Conv 1*5*5)</a:t>
              </a:r>
              <a:endParaRPr lang="en-US" altLang="zh-CN" sz="900">
                <a:solidFill>
                  <a:schemeClr val="tx1"/>
                </a:solidFill>
              </a:endParaRPr>
            </a:p>
          </p:txBody>
        </p:sp>
        <p:sp>
          <p:nvSpPr>
            <p:cNvPr id="6" name="圆角矩形 5"/>
            <p:cNvSpPr/>
            <p:nvPr/>
          </p:nvSpPr>
          <p:spPr>
            <a:xfrm>
              <a:off x="3461" y="2606"/>
              <a:ext cx="1423" cy="339"/>
            </a:xfrm>
            <a:prstGeom prst="roundRect">
              <a:avLst/>
            </a:prstGeom>
            <a:solidFill>
              <a:srgbClr val="D5E1D3"/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900">
                  <a:solidFill>
                    <a:schemeClr val="tx1"/>
                  </a:solidFill>
                </a:rPr>
                <a:t>MaxPool</a:t>
              </a:r>
              <a:endParaRPr lang="en-US" altLang="zh-CN" sz="900">
                <a:solidFill>
                  <a:schemeClr val="tx1"/>
                </a:solidFill>
              </a:endParaRPr>
            </a:p>
          </p:txBody>
        </p:sp>
        <p:sp>
          <p:nvSpPr>
            <p:cNvPr id="7" name="圆角矩形 6"/>
            <p:cNvSpPr/>
            <p:nvPr/>
          </p:nvSpPr>
          <p:spPr>
            <a:xfrm>
              <a:off x="3461" y="3395"/>
              <a:ext cx="1423" cy="610"/>
            </a:xfrm>
            <a:prstGeom prst="roundRect">
              <a:avLst/>
            </a:prstGeom>
            <a:solidFill>
              <a:srgbClr val="D5E1D3"/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900">
                  <a:solidFill>
                    <a:schemeClr val="tx1"/>
                  </a:solidFill>
                </a:rPr>
                <a:t>ConvBlock2(Conv 3*3*3)</a:t>
              </a:r>
              <a:endParaRPr lang="en-US" altLang="zh-CN" sz="900">
                <a:solidFill>
                  <a:schemeClr val="tx1"/>
                </a:solidFill>
              </a:endParaRPr>
            </a:p>
          </p:txBody>
        </p:sp>
        <p:sp>
          <p:nvSpPr>
            <p:cNvPr id="8" name="圆角矩形 7"/>
            <p:cNvSpPr/>
            <p:nvPr/>
          </p:nvSpPr>
          <p:spPr>
            <a:xfrm>
              <a:off x="3461" y="4455"/>
              <a:ext cx="1423" cy="610"/>
            </a:xfrm>
            <a:prstGeom prst="roundRect">
              <a:avLst/>
            </a:prstGeom>
            <a:solidFill>
              <a:srgbClr val="D5E1D3"/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900">
                  <a:solidFill>
                    <a:schemeClr val="tx1"/>
                  </a:solidFill>
                </a:rPr>
                <a:t>ConvBlock3(Conv 3*3*3)</a:t>
              </a:r>
              <a:endParaRPr lang="en-US" altLang="zh-CN" sz="900">
                <a:solidFill>
                  <a:schemeClr val="tx1"/>
                </a:solidFill>
              </a:endParaRPr>
            </a:p>
          </p:txBody>
        </p:sp>
        <p:sp>
          <p:nvSpPr>
            <p:cNvPr id="9" name="圆角矩形 8"/>
            <p:cNvSpPr/>
            <p:nvPr/>
          </p:nvSpPr>
          <p:spPr>
            <a:xfrm>
              <a:off x="3461" y="5515"/>
              <a:ext cx="1423" cy="339"/>
            </a:xfrm>
            <a:prstGeom prst="roundRect">
              <a:avLst/>
            </a:prstGeom>
            <a:solidFill>
              <a:srgbClr val="D5E1D3"/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900">
                  <a:solidFill>
                    <a:schemeClr val="tx1"/>
                  </a:solidFill>
                </a:rPr>
                <a:t>MaxPool</a:t>
              </a:r>
              <a:endParaRPr lang="en-US" altLang="zh-CN" sz="900">
                <a:solidFill>
                  <a:schemeClr val="tx1"/>
                </a:solidFill>
              </a:endParaRPr>
            </a:p>
          </p:txBody>
        </p:sp>
        <p:cxnSp>
          <p:nvCxnSpPr>
            <p:cNvPr id="10" name="直接箭头连接符 9"/>
            <p:cNvCxnSpPr>
              <a:stCxn id="5" idx="2"/>
              <a:endCxn id="6" idx="0"/>
            </p:cNvCxnSpPr>
            <p:nvPr/>
          </p:nvCxnSpPr>
          <p:spPr>
            <a:xfrm>
              <a:off x="4173" y="2156"/>
              <a:ext cx="0" cy="45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1" name="直接箭头连接符 10"/>
            <p:cNvCxnSpPr/>
            <p:nvPr/>
          </p:nvCxnSpPr>
          <p:spPr>
            <a:xfrm>
              <a:off x="4173" y="2945"/>
              <a:ext cx="0" cy="45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" name="直接箭头连接符 11"/>
            <p:cNvCxnSpPr/>
            <p:nvPr/>
          </p:nvCxnSpPr>
          <p:spPr>
            <a:xfrm>
              <a:off x="4173" y="4005"/>
              <a:ext cx="0" cy="45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3" name="直接箭头连接符 12"/>
            <p:cNvCxnSpPr/>
            <p:nvPr/>
          </p:nvCxnSpPr>
          <p:spPr>
            <a:xfrm>
              <a:off x="4173" y="5065"/>
              <a:ext cx="0" cy="45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4" name="文本框 13"/>
            <p:cNvSpPr txBox="1"/>
            <p:nvPr/>
          </p:nvSpPr>
          <p:spPr>
            <a:xfrm>
              <a:off x="4115" y="2200"/>
              <a:ext cx="1105" cy="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900"/>
                <a:t>MaxPool</a:t>
              </a:r>
              <a:endParaRPr lang="en-US" altLang="zh-CN" sz="900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4115" y="4049"/>
              <a:ext cx="1105" cy="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900"/>
                <a:t>MaxPool</a:t>
              </a:r>
              <a:endParaRPr lang="en-US" altLang="zh-CN" sz="90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文本框 18"/>
              <p:cNvSpPr txBox="1"/>
              <p:nvPr/>
            </p:nvSpPr>
            <p:spPr>
              <a:xfrm>
                <a:off x="1529715" y="3905885"/>
                <a:ext cx="1087755" cy="3505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200"/>
                  <a:t>[B,64,T,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2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1200">
                            <a:latin typeface="Cambria Math" panose="02040503050406030204" charset="0"/>
                            <a:cs typeface="Cambria Math" panose="02040503050406030204" charset="0"/>
                          </a:rPr>
                          <m:t>H</m:t>
                        </m:r>
                      </m:num>
                      <m:den>
                        <m:r>
                          <a:rPr lang="en-US" altLang="zh-CN" sz="1200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4</m:t>
                        </m:r>
                      </m:den>
                    </m:f>
                    <m:r>
                      <a:rPr lang="en-US" altLang="zh-CN" sz="1200" i="1"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f>
                      <m:fPr>
                        <m:ctrlPr>
                          <a:rPr lang="en-US" altLang="zh-CN" sz="12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1200">
                            <a:latin typeface="Cambria Math" panose="02040503050406030204" charset="0"/>
                            <a:cs typeface="Cambria Math" panose="02040503050406030204" charset="0"/>
                          </a:rPr>
                          <m:t>W</m:t>
                        </m:r>
                      </m:num>
                      <m:den>
                        <m:r>
                          <a:rPr lang="en-US" altLang="zh-CN" sz="1200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altLang="zh-CN" sz="1200"/>
                  <a:t>]</a:t>
                </a:r>
                <a:endParaRPr lang="en-US" altLang="zh-CN" sz="1200"/>
              </a:p>
            </p:txBody>
          </p:sp>
        </mc:Choice>
        <mc:Fallback>
          <p:sp>
            <p:nvSpPr>
              <p:cNvPr id="19" name="文本框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9715" y="3905885"/>
                <a:ext cx="1087755" cy="35052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文本框 20"/>
          <p:cNvSpPr txBox="1"/>
          <p:nvPr/>
        </p:nvSpPr>
        <p:spPr>
          <a:xfrm>
            <a:off x="2471420" y="1346835"/>
            <a:ext cx="79819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00"/>
              <a:t>Lateral Connection(fuse_1)</a:t>
            </a:r>
            <a:endParaRPr lang="en-US" altLang="zh-CN" sz="900"/>
          </a:p>
        </p:txBody>
      </p:sp>
      <p:grpSp>
        <p:nvGrpSpPr>
          <p:cNvPr id="40" name="组合 39"/>
          <p:cNvGrpSpPr/>
          <p:nvPr/>
        </p:nvGrpSpPr>
        <p:grpSpPr>
          <a:xfrm>
            <a:off x="3140075" y="808355"/>
            <a:ext cx="1775460" cy="1934210"/>
            <a:chOff x="5680" y="1273"/>
            <a:chExt cx="2796" cy="3046"/>
          </a:xfrm>
        </p:grpSpPr>
        <p:sp>
          <p:nvSpPr>
            <p:cNvPr id="39" name="圆角矩形 38"/>
            <p:cNvSpPr/>
            <p:nvPr/>
          </p:nvSpPr>
          <p:spPr>
            <a:xfrm>
              <a:off x="5700" y="1273"/>
              <a:ext cx="2776" cy="3046"/>
            </a:xfrm>
            <a:prstGeom prst="roundRect">
              <a:avLst>
                <a:gd name="adj" fmla="val 9257"/>
              </a:avLst>
            </a:prstGeom>
            <a:solidFill>
              <a:srgbClr val="D4E3F6"/>
            </a:solidFill>
            <a:ln w="12700" cmpd="sng">
              <a:solidFill>
                <a:schemeClr val="accent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t" anchorCtr="0"/>
            <a:p>
              <a:pPr algn="ctr"/>
              <a:r>
                <a:rPr lang="en-US" altLang="zh-CN" sz="1000" b="1" i="1">
                  <a:solidFill>
                    <a:schemeClr val="tx1"/>
                  </a:solidFill>
                </a:rPr>
                <a:t>Slow Stream</a:t>
              </a:r>
              <a:endParaRPr lang="en-US" altLang="zh-CN" sz="1000" b="1" i="1">
                <a:solidFill>
                  <a:schemeClr val="tx1"/>
                </a:solidFill>
              </a:endParaRPr>
            </a:p>
          </p:txBody>
        </p:sp>
        <p:grpSp>
          <p:nvGrpSpPr>
            <p:cNvPr id="26" name="组合 25"/>
            <p:cNvGrpSpPr/>
            <p:nvPr/>
          </p:nvGrpSpPr>
          <p:grpSpPr>
            <a:xfrm>
              <a:off x="5680" y="1663"/>
              <a:ext cx="2648" cy="716"/>
              <a:chOff x="5687" y="1312"/>
              <a:chExt cx="2648" cy="716"/>
            </a:xfrm>
          </p:grpSpPr>
          <p:sp>
            <p:nvSpPr>
              <p:cNvPr id="17" name="圆角矩形 16"/>
              <p:cNvSpPr/>
              <p:nvPr/>
            </p:nvSpPr>
            <p:spPr>
              <a:xfrm>
                <a:off x="5796" y="1312"/>
                <a:ext cx="2539" cy="716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900">
                    <a:solidFill>
                      <a:schemeClr val="tx1"/>
                    </a:solidFill>
                  </a:rPr>
                  <a:t>ConvBlock4</a:t>
                </a:r>
                <a:endParaRPr lang="en-US" altLang="zh-CN" sz="90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altLang="zh-CN" sz="900">
                    <a:solidFill>
                      <a:schemeClr val="tx1"/>
                    </a:solidFill>
                  </a:rPr>
                  <a:t>(temporal*4 compression,</a:t>
                </a:r>
                <a:endParaRPr lang="en-US" altLang="zh-CN" sz="90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altLang="zh-CN" sz="900">
                    <a:solidFill>
                      <a:schemeClr val="tx1"/>
                    </a:solidFill>
                  </a:rPr>
                  <a:t>Conv 4*1*1)</a:t>
                </a:r>
                <a:endParaRPr lang="en-US" altLang="zh-CN" sz="90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2" name="直接箭头连接符 21"/>
              <p:cNvCxnSpPr/>
              <p:nvPr/>
            </p:nvCxnSpPr>
            <p:spPr>
              <a:xfrm flipV="1">
                <a:off x="5796" y="1497"/>
                <a:ext cx="316" cy="156"/>
              </a:xfrm>
              <a:prstGeom prst="straightConnector1">
                <a:avLst/>
              </a:prstGeom>
              <a:ln>
                <a:tailEnd type="arrow" w="sm" len="sm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3" name="直接箭头连接符 22"/>
              <p:cNvCxnSpPr/>
              <p:nvPr/>
            </p:nvCxnSpPr>
            <p:spPr>
              <a:xfrm>
                <a:off x="5796" y="1661"/>
                <a:ext cx="344" cy="140"/>
              </a:xfrm>
              <a:prstGeom prst="straightConnector1">
                <a:avLst/>
              </a:prstGeom>
              <a:ln>
                <a:tailEnd type="arrow" w="sm" len="sm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24" name="文本框 23"/>
              <p:cNvSpPr txBox="1"/>
              <p:nvPr/>
            </p:nvSpPr>
            <p:spPr>
              <a:xfrm>
                <a:off x="5697" y="1312"/>
                <a:ext cx="507" cy="3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700"/>
                  <a:t>LF</a:t>
                </a:r>
                <a:endParaRPr lang="en-US" altLang="zh-CN" sz="700"/>
              </a:p>
            </p:txBody>
          </p:sp>
          <p:sp>
            <p:nvSpPr>
              <p:cNvPr id="25" name="文本框 24"/>
              <p:cNvSpPr txBox="1"/>
              <p:nvPr/>
            </p:nvSpPr>
            <p:spPr>
              <a:xfrm>
                <a:off x="5687" y="1715"/>
                <a:ext cx="507" cy="3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700"/>
                  <a:t>HF</a:t>
                </a:r>
                <a:endParaRPr lang="en-US" altLang="zh-CN" sz="700"/>
              </a:p>
            </p:txBody>
          </p:sp>
        </p:grpSp>
        <p:grpSp>
          <p:nvGrpSpPr>
            <p:cNvPr id="27" name="组合 26"/>
            <p:cNvGrpSpPr/>
            <p:nvPr/>
          </p:nvGrpSpPr>
          <p:grpSpPr>
            <a:xfrm>
              <a:off x="5689" y="2634"/>
              <a:ext cx="2631" cy="716"/>
              <a:chOff x="5687" y="1312"/>
              <a:chExt cx="2326" cy="716"/>
            </a:xfrm>
          </p:grpSpPr>
          <p:sp>
            <p:nvSpPr>
              <p:cNvPr id="28" name="圆角矩形 27"/>
              <p:cNvSpPr/>
              <p:nvPr/>
            </p:nvSpPr>
            <p:spPr>
              <a:xfrm>
                <a:off x="5796" y="1312"/>
                <a:ext cx="2217" cy="716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900">
                    <a:solidFill>
                      <a:schemeClr val="tx1"/>
                    </a:solidFill>
                  </a:rPr>
                  <a:t>FreqSepBlock*3</a:t>
                </a:r>
                <a:endParaRPr lang="en-US" altLang="zh-CN" sz="900">
                  <a:solidFill>
                    <a:schemeClr val="tx1"/>
                  </a:solidFill>
                </a:endParaRPr>
              </a:p>
              <a:p>
                <a:pPr algn="ctr"/>
                <a:r>
                  <a:rPr lang="zh-CN" altLang="en-US" sz="9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  <a:cs typeface="Arial" panose="020B0604020202020204" pitchFamily="34" charset="0"/>
                    <a:sym typeface="+mn-ea"/>
                  </a:rPr>
                  <a:t>σ</a:t>
                </a:r>
                <a:r>
                  <a:rPr lang="en-US" altLang="zh-CN" sz="900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  <a:cs typeface="Arial" panose="020B0604020202020204" pitchFamily="34" charset="0"/>
                    <a:sym typeface="+mn-ea"/>
                  </a:rPr>
                  <a:t>decomp</a:t>
                </a:r>
                <a:r>
                  <a:rPr lang="en-US" altLang="zh-CN" sz="9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  <a:cs typeface="Arial" panose="020B0604020202020204" pitchFamily="34" charset="0"/>
                    <a:sym typeface="+mn-ea"/>
                  </a:rPr>
                  <a:t>=1.8,</a:t>
                </a:r>
                <a:r>
                  <a:rPr lang="zh-CN" altLang="en-US" sz="9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  <a:cs typeface="Arial" panose="020B0604020202020204" pitchFamily="34" charset="0"/>
                    <a:sym typeface="+mn-ea"/>
                  </a:rPr>
                  <a:t>σ</a:t>
                </a:r>
                <a:r>
                  <a:rPr lang="en-US" altLang="zh-CN" sz="900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  <a:cs typeface="Arial" panose="020B0604020202020204" pitchFamily="34" charset="0"/>
                    <a:sym typeface="+mn-ea"/>
                  </a:rPr>
                  <a:t>If</a:t>
                </a:r>
                <a:r>
                  <a:rPr lang="en-US" altLang="zh-CN" sz="9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  <a:cs typeface="Arial" panose="020B0604020202020204" pitchFamily="34" charset="0"/>
                    <a:sym typeface="+mn-ea"/>
                  </a:rPr>
                  <a:t>=1.8</a:t>
                </a:r>
                <a:endParaRPr lang="en-US" altLang="zh-CN" sz="9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  <a:sym typeface="+mn-ea"/>
                </a:endParaRPr>
              </a:p>
            </p:txBody>
          </p:sp>
          <p:cxnSp>
            <p:nvCxnSpPr>
              <p:cNvPr id="29" name="直接箭头连接符 28"/>
              <p:cNvCxnSpPr/>
              <p:nvPr/>
            </p:nvCxnSpPr>
            <p:spPr>
              <a:xfrm flipV="1">
                <a:off x="5796" y="1497"/>
                <a:ext cx="316" cy="156"/>
              </a:xfrm>
              <a:prstGeom prst="straightConnector1">
                <a:avLst/>
              </a:prstGeom>
              <a:ln>
                <a:tailEnd type="arrow" w="sm" len="sm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0" name="直接箭头连接符 29"/>
              <p:cNvCxnSpPr/>
              <p:nvPr/>
            </p:nvCxnSpPr>
            <p:spPr>
              <a:xfrm>
                <a:off x="5796" y="1661"/>
                <a:ext cx="344" cy="140"/>
              </a:xfrm>
              <a:prstGeom prst="straightConnector1">
                <a:avLst/>
              </a:prstGeom>
              <a:ln>
                <a:tailEnd type="arrow" w="sm" len="sm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31" name="文本框 30"/>
              <p:cNvSpPr txBox="1"/>
              <p:nvPr/>
            </p:nvSpPr>
            <p:spPr>
              <a:xfrm>
                <a:off x="5697" y="1312"/>
                <a:ext cx="507" cy="3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700"/>
                  <a:t>LF</a:t>
                </a:r>
                <a:endParaRPr lang="en-US" altLang="zh-CN" sz="700"/>
              </a:p>
            </p:txBody>
          </p:sp>
          <p:sp>
            <p:nvSpPr>
              <p:cNvPr id="32" name="文本框 31"/>
              <p:cNvSpPr txBox="1"/>
              <p:nvPr/>
            </p:nvSpPr>
            <p:spPr>
              <a:xfrm>
                <a:off x="5687" y="1715"/>
                <a:ext cx="507" cy="3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700"/>
                  <a:t>HF</a:t>
                </a:r>
                <a:endParaRPr lang="en-US" altLang="zh-CN" sz="700"/>
              </a:p>
            </p:txBody>
          </p:sp>
        </p:grpSp>
        <p:sp>
          <p:nvSpPr>
            <p:cNvPr id="34" name="文本框 33"/>
            <p:cNvSpPr txBox="1"/>
            <p:nvPr/>
          </p:nvSpPr>
          <p:spPr>
            <a:xfrm>
              <a:off x="6420" y="2325"/>
              <a:ext cx="777" cy="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900"/>
                <a:t>64ch</a:t>
              </a:r>
              <a:endParaRPr lang="en-US" altLang="zh-CN" sz="900"/>
            </a:p>
          </p:txBody>
        </p:sp>
        <p:cxnSp>
          <p:nvCxnSpPr>
            <p:cNvPr id="35" name="直接箭头连接符 34"/>
            <p:cNvCxnSpPr>
              <a:stCxn id="17" idx="2"/>
              <a:endCxn id="28" idx="0"/>
            </p:cNvCxnSpPr>
            <p:nvPr/>
          </p:nvCxnSpPr>
          <p:spPr>
            <a:xfrm>
              <a:off x="7059" y="2379"/>
              <a:ext cx="7" cy="25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6" name="圆角矩形 35"/>
            <p:cNvSpPr/>
            <p:nvPr/>
          </p:nvSpPr>
          <p:spPr>
            <a:xfrm>
              <a:off x="5812" y="3605"/>
              <a:ext cx="2506" cy="547"/>
            </a:xfrm>
            <a:prstGeom prst="roundRect">
              <a:avLst/>
            </a:prstGeom>
            <a:solidFill>
              <a:srgbClr val="D5E1D3"/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900">
                  <a:solidFill>
                    <a:schemeClr val="tx1"/>
                  </a:solidFill>
                </a:rPr>
                <a:t>SmoothUpsampleBlock</a:t>
              </a:r>
              <a:endParaRPr lang="en-US" altLang="zh-CN" sz="900">
                <a:solidFill>
                  <a:schemeClr val="tx1"/>
                </a:solidFill>
              </a:endParaRPr>
            </a:p>
            <a:p>
              <a:pPr algn="ctr"/>
              <a:r>
                <a:rPr lang="en-US" altLang="zh-CN" sz="900">
                  <a:solidFill>
                    <a:schemeClr val="tx1"/>
                  </a:solidFill>
                </a:rPr>
                <a:t>(upsample1,</a:t>
              </a:r>
              <a:r>
                <a:rPr lang="zh-CN" altLang="en-US" sz="9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  <a:sym typeface="+mn-ea"/>
                </a:rPr>
                <a:t>σ</a:t>
              </a:r>
              <a:r>
                <a:rPr lang="en-US" altLang="zh-CN" sz="9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  <a:sym typeface="+mn-ea"/>
                </a:rPr>
                <a:t>=1.0)</a:t>
              </a:r>
              <a:endParaRPr lang="en-US" altLang="zh-CN" sz="9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endParaRPr>
            </a:p>
          </p:txBody>
        </p:sp>
        <p:cxnSp>
          <p:nvCxnSpPr>
            <p:cNvPr id="37" name="直接箭头连接符 36"/>
            <p:cNvCxnSpPr>
              <a:stCxn id="28" idx="2"/>
              <a:endCxn id="36" idx="0"/>
            </p:cNvCxnSpPr>
            <p:nvPr/>
          </p:nvCxnSpPr>
          <p:spPr>
            <a:xfrm flipH="1">
              <a:off x="7065" y="3350"/>
              <a:ext cx="1" cy="25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8" name="文本框 37"/>
            <p:cNvSpPr txBox="1"/>
            <p:nvPr/>
          </p:nvSpPr>
          <p:spPr>
            <a:xfrm>
              <a:off x="7059" y="3291"/>
              <a:ext cx="1160" cy="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900"/>
                <a:t>MaxPool</a:t>
              </a:r>
              <a:endParaRPr lang="en-US" altLang="zh-CN" sz="900"/>
            </a:p>
          </p:txBody>
        </p:sp>
      </p:grpSp>
      <p:cxnSp>
        <p:nvCxnSpPr>
          <p:cNvPr id="41" name="肘形连接符 40"/>
          <p:cNvCxnSpPr/>
          <p:nvPr/>
        </p:nvCxnSpPr>
        <p:spPr>
          <a:xfrm flipV="1">
            <a:off x="2524760" y="1890395"/>
            <a:ext cx="675640" cy="460375"/>
          </a:xfrm>
          <a:prstGeom prst="bentConnector3">
            <a:avLst>
              <a:gd name="adj1" fmla="val 71146"/>
            </a:avLst>
          </a:prstGeom>
          <a:ln w="19050" cmpd="sng">
            <a:solidFill>
              <a:schemeClr val="tx2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2" name="组合 41"/>
          <p:cNvGrpSpPr/>
          <p:nvPr/>
        </p:nvGrpSpPr>
        <p:grpSpPr>
          <a:xfrm>
            <a:off x="3146342" y="2800985"/>
            <a:ext cx="1770463" cy="1934210"/>
            <a:chOff x="5688" y="1273"/>
            <a:chExt cx="2788" cy="3046"/>
          </a:xfrm>
        </p:grpSpPr>
        <p:sp>
          <p:nvSpPr>
            <p:cNvPr id="43" name="圆角矩形 42"/>
            <p:cNvSpPr/>
            <p:nvPr/>
          </p:nvSpPr>
          <p:spPr>
            <a:xfrm>
              <a:off x="5700" y="1273"/>
              <a:ext cx="2776" cy="3046"/>
            </a:xfrm>
            <a:prstGeom prst="roundRect">
              <a:avLst>
                <a:gd name="adj" fmla="val 9257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12700" cmpd="sng">
              <a:solidFill>
                <a:schemeClr val="accent2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t" anchorCtr="0"/>
            <a:p>
              <a:pPr algn="ctr"/>
              <a:r>
                <a:rPr lang="en-US" altLang="zh-CN" sz="1000" b="1" i="1">
                  <a:solidFill>
                    <a:schemeClr val="tx1"/>
                  </a:solidFill>
                </a:rPr>
                <a:t>Fast Stream</a:t>
              </a:r>
              <a:endParaRPr lang="en-US" altLang="zh-CN" sz="1000" b="1" i="1">
                <a:solidFill>
                  <a:schemeClr val="tx1"/>
                </a:solidFill>
              </a:endParaRPr>
            </a:p>
          </p:txBody>
        </p:sp>
        <p:sp>
          <p:nvSpPr>
            <p:cNvPr id="45" name="圆角矩形 44"/>
            <p:cNvSpPr/>
            <p:nvPr/>
          </p:nvSpPr>
          <p:spPr>
            <a:xfrm>
              <a:off x="5789" y="1663"/>
              <a:ext cx="2539" cy="716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900">
                  <a:solidFill>
                    <a:schemeClr val="tx1"/>
                  </a:solidFill>
                </a:rPr>
                <a:t>ConvBlock5</a:t>
              </a:r>
              <a:endParaRPr lang="en-US" altLang="zh-CN" sz="900">
                <a:solidFill>
                  <a:schemeClr val="tx1"/>
                </a:solidFill>
              </a:endParaRPr>
            </a:p>
            <a:p>
              <a:pPr algn="ctr"/>
              <a:r>
                <a:rPr lang="en-US" altLang="zh-CN" sz="900">
                  <a:solidFill>
                    <a:schemeClr val="tx1"/>
                  </a:solidFill>
                </a:rPr>
                <a:t>(temporal*2 compression,</a:t>
              </a:r>
              <a:endParaRPr lang="en-US" altLang="zh-CN" sz="900">
                <a:solidFill>
                  <a:schemeClr val="tx1"/>
                </a:solidFill>
              </a:endParaRPr>
            </a:p>
            <a:p>
              <a:pPr algn="ctr"/>
              <a:r>
                <a:rPr lang="en-US" altLang="zh-CN" sz="900">
                  <a:solidFill>
                    <a:schemeClr val="tx1"/>
                  </a:solidFill>
                </a:rPr>
                <a:t>Conv 2*1*1)</a:t>
              </a:r>
              <a:endParaRPr lang="en-US" altLang="zh-CN" sz="900">
                <a:solidFill>
                  <a:schemeClr val="tx1"/>
                </a:solidFill>
              </a:endParaRPr>
            </a:p>
          </p:txBody>
        </p:sp>
        <p:grpSp>
          <p:nvGrpSpPr>
            <p:cNvPr id="50" name="组合 49"/>
            <p:cNvGrpSpPr/>
            <p:nvPr/>
          </p:nvGrpSpPr>
          <p:grpSpPr>
            <a:xfrm>
              <a:off x="5688" y="2634"/>
              <a:ext cx="2632" cy="716"/>
              <a:chOff x="5686" y="1312"/>
              <a:chExt cx="2327" cy="716"/>
            </a:xfrm>
          </p:grpSpPr>
          <p:sp>
            <p:nvSpPr>
              <p:cNvPr id="51" name="圆角矩形 50"/>
              <p:cNvSpPr/>
              <p:nvPr/>
            </p:nvSpPr>
            <p:spPr>
              <a:xfrm>
                <a:off x="5796" y="1312"/>
                <a:ext cx="2217" cy="716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900">
                    <a:solidFill>
                      <a:schemeClr val="tx1"/>
                    </a:solidFill>
                  </a:rPr>
                  <a:t>FreqSepBlock*3</a:t>
                </a:r>
                <a:endParaRPr lang="en-US" altLang="zh-CN" sz="900">
                  <a:solidFill>
                    <a:schemeClr val="tx1"/>
                  </a:solidFill>
                </a:endParaRPr>
              </a:p>
              <a:p>
                <a:pPr algn="ctr"/>
                <a:r>
                  <a:rPr lang="zh-CN" altLang="en-US" sz="9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  <a:cs typeface="Arial" panose="020B0604020202020204" pitchFamily="34" charset="0"/>
                    <a:sym typeface="+mn-ea"/>
                  </a:rPr>
                  <a:t>σ</a:t>
                </a:r>
                <a:r>
                  <a:rPr lang="en-US" altLang="zh-CN" sz="900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  <a:cs typeface="Arial" panose="020B0604020202020204" pitchFamily="34" charset="0"/>
                    <a:sym typeface="+mn-ea"/>
                  </a:rPr>
                  <a:t>decomp</a:t>
                </a:r>
                <a:r>
                  <a:rPr lang="en-US" altLang="zh-CN" sz="9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  <a:cs typeface="Arial" panose="020B0604020202020204" pitchFamily="34" charset="0"/>
                    <a:sym typeface="+mn-ea"/>
                  </a:rPr>
                  <a:t>=0.8,</a:t>
                </a:r>
                <a:r>
                  <a:rPr lang="zh-CN" altLang="en-US" sz="9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  <a:cs typeface="Arial" panose="020B0604020202020204" pitchFamily="34" charset="0"/>
                    <a:sym typeface="+mn-ea"/>
                  </a:rPr>
                  <a:t>σ</a:t>
                </a:r>
                <a:r>
                  <a:rPr lang="en-US" altLang="zh-CN" sz="900" baseline="-250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  <a:cs typeface="Arial" panose="020B0604020202020204" pitchFamily="34" charset="0"/>
                    <a:sym typeface="+mn-ea"/>
                  </a:rPr>
                  <a:t>If</a:t>
                </a:r>
                <a:r>
                  <a:rPr lang="en-US" altLang="zh-CN" sz="9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  <a:cs typeface="Arial" panose="020B0604020202020204" pitchFamily="34" charset="0"/>
                    <a:sym typeface="+mn-ea"/>
                  </a:rPr>
                  <a:t>=0.8</a:t>
                </a:r>
                <a:endParaRPr lang="en-US" altLang="zh-CN" sz="9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  <a:sym typeface="+mn-ea"/>
                </a:endParaRPr>
              </a:p>
            </p:txBody>
          </p:sp>
          <p:cxnSp>
            <p:nvCxnSpPr>
              <p:cNvPr id="52" name="直接箭头连接符 51"/>
              <p:cNvCxnSpPr/>
              <p:nvPr/>
            </p:nvCxnSpPr>
            <p:spPr>
              <a:xfrm flipV="1">
                <a:off x="5796" y="1423"/>
                <a:ext cx="322" cy="230"/>
              </a:xfrm>
              <a:prstGeom prst="straightConnector1">
                <a:avLst/>
              </a:prstGeom>
              <a:ln>
                <a:solidFill>
                  <a:schemeClr val="accent2">
                    <a:lumMod val="50000"/>
                  </a:schemeClr>
                </a:solidFill>
                <a:tailEnd type="arrow" w="sm" len="sm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53" name="直接箭头连接符 52"/>
              <p:cNvCxnSpPr/>
              <p:nvPr/>
            </p:nvCxnSpPr>
            <p:spPr>
              <a:xfrm>
                <a:off x="5796" y="1661"/>
                <a:ext cx="280" cy="202"/>
              </a:xfrm>
              <a:prstGeom prst="straightConnector1">
                <a:avLst/>
              </a:prstGeom>
              <a:ln>
                <a:solidFill>
                  <a:schemeClr val="accent2">
                    <a:lumMod val="50000"/>
                  </a:schemeClr>
                </a:solidFill>
                <a:tailEnd type="arrow" w="sm" len="sm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54" name="文本框 53"/>
              <p:cNvSpPr txBox="1"/>
              <p:nvPr/>
            </p:nvSpPr>
            <p:spPr>
              <a:xfrm>
                <a:off x="5704" y="1312"/>
                <a:ext cx="507" cy="3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700"/>
                  <a:t>LF</a:t>
                </a:r>
                <a:endParaRPr lang="en-US" altLang="zh-CN" sz="700"/>
              </a:p>
            </p:txBody>
          </p:sp>
          <p:sp>
            <p:nvSpPr>
              <p:cNvPr id="55" name="文本框 54"/>
              <p:cNvSpPr txBox="1"/>
              <p:nvPr/>
            </p:nvSpPr>
            <p:spPr>
              <a:xfrm>
                <a:off x="5686" y="1741"/>
                <a:ext cx="505" cy="2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700"/>
                  <a:t>HF</a:t>
                </a:r>
                <a:endParaRPr lang="en-US" altLang="zh-CN" sz="700"/>
              </a:p>
            </p:txBody>
          </p:sp>
        </p:grpSp>
        <p:sp>
          <p:nvSpPr>
            <p:cNvPr id="56" name="文本框 55"/>
            <p:cNvSpPr txBox="1"/>
            <p:nvPr/>
          </p:nvSpPr>
          <p:spPr>
            <a:xfrm>
              <a:off x="6420" y="2325"/>
              <a:ext cx="777" cy="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900"/>
                <a:t>32ch</a:t>
              </a:r>
              <a:endParaRPr lang="en-US" altLang="zh-CN" sz="900"/>
            </a:p>
          </p:txBody>
        </p:sp>
        <p:cxnSp>
          <p:nvCxnSpPr>
            <p:cNvPr id="57" name="直接箭头连接符 56"/>
            <p:cNvCxnSpPr>
              <a:stCxn id="45" idx="2"/>
              <a:endCxn id="51" idx="0"/>
            </p:cNvCxnSpPr>
            <p:nvPr/>
          </p:nvCxnSpPr>
          <p:spPr>
            <a:xfrm>
              <a:off x="7059" y="2379"/>
              <a:ext cx="7" cy="25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58" name="圆角矩形 57"/>
            <p:cNvSpPr/>
            <p:nvPr/>
          </p:nvSpPr>
          <p:spPr>
            <a:xfrm>
              <a:off x="5812" y="3605"/>
              <a:ext cx="2506" cy="547"/>
            </a:xfrm>
            <a:prstGeom prst="roundRect">
              <a:avLst/>
            </a:prstGeom>
            <a:solidFill>
              <a:srgbClr val="D5E1D3"/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900">
                  <a:solidFill>
                    <a:schemeClr val="tx1"/>
                  </a:solidFill>
                </a:rPr>
                <a:t>SmoothUpsampleBlock</a:t>
              </a:r>
              <a:endParaRPr lang="en-US" altLang="zh-CN" sz="900">
                <a:solidFill>
                  <a:schemeClr val="tx1"/>
                </a:solidFill>
              </a:endParaRPr>
            </a:p>
            <a:p>
              <a:pPr algn="ctr"/>
              <a:r>
                <a:rPr lang="en-US" altLang="zh-CN" sz="900">
                  <a:solidFill>
                    <a:schemeClr val="tx1"/>
                  </a:solidFill>
                </a:rPr>
                <a:t>(ConvBlock6,</a:t>
              </a:r>
              <a:r>
                <a:rPr lang="zh-CN" altLang="en-US" sz="9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  <a:sym typeface="+mn-ea"/>
                </a:rPr>
                <a:t>σ</a:t>
              </a:r>
              <a:r>
                <a:rPr lang="en-US" altLang="zh-CN" sz="9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  <a:sym typeface="+mn-ea"/>
                </a:rPr>
                <a:t>=0.8)</a:t>
              </a:r>
              <a:endParaRPr lang="en-US" altLang="zh-CN" sz="9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endParaRPr>
            </a:p>
          </p:txBody>
        </p:sp>
        <p:cxnSp>
          <p:nvCxnSpPr>
            <p:cNvPr id="59" name="直接箭头连接符 58"/>
            <p:cNvCxnSpPr>
              <a:stCxn id="51" idx="2"/>
              <a:endCxn id="58" idx="0"/>
            </p:cNvCxnSpPr>
            <p:nvPr/>
          </p:nvCxnSpPr>
          <p:spPr>
            <a:xfrm flipH="1">
              <a:off x="7065" y="3350"/>
              <a:ext cx="1" cy="25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60" name="文本框 59"/>
            <p:cNvSpPr txBox="1"/>
            <p:nvPr/>
          </p:nvSpPr>
          <p:spPr>
            <a:xfrm>
              <a:off x="7059" y="3291"/>
              <a:ext cx="1160" cy="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900"/>
                <a:t>MaxPool</a:t>
              </a:r>
              <a:endParaRPr lang="en-US" altLang="zh-CN" sz="900"/>
            </a:p>
          </p:txBody>
        </p:sp>
      </p:grpSp>
      <p:cxnSp>
        <p:nvCxnSpPr>
          <p:cNvPr id="61" name="直接连接符 60"/>
          <p:cNvCxnSpPr/>
          <p:nvPr/>
        </p:nvCxnSpPr>
        <p:spPr>
          <a:xfrm>
            <a:off x="3334385" y="1871345"/>
            <a:ext cx="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2" name="直接连接符 61"/>
          <p:cNvCxnSpPr/>
          <p:nvPr/>
        </p:nvCxnSpPr>
        <p:spPr>
          <a:xfrm flipV="1">
            <a:off x="3225165" y="1883410"/>
            <a:ext cx="113030" cy="57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3" name="直接连接符 62"/>
          <p:cNvCxnSpPr/>
          <p:nvPr/>
        </p:nvCxnSpPr>
        <p:spPr>
          <a:xfrm flipV="1">
            <a:off x="3239135" y="3881120"/>
            <a:ext cx="113030" cy="5715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4" name="肘形连接符 63"/>
          <p:cNvCxnSpPr/>
          <p:nvPr/>
        </p:nvCxnSpPr>
        <p:spPr>
          <a:xfrm>
            <a:off x="2524760" y="2350770"/>
            <a:ext cx="700405" cy="1541780"/>
          </a:xfrm>
          <a:prstGeom prst="bentConnector3">
            <a:avLst>
              <a:gd name="adj1" fmla="val 67724"/>
            </a:avLst>
          </a:prstGeom>
          <a:ln w="19050" cmpd="sng">
            <a:solidFill>
              <a:schemeClr val="tx2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5" name="文本框 64"/>
          <p:cNvSpPr txBox="1"/>
          <p:nvPr/>
        </p:nvSpPr>
        <p:spPr>
          <a:xfrm>
            <a:off x="2472055" y="2742565"/>
            <a:ext cx="7035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00"/>
              <a:t>fuse_2 stride=</a:t>
            </a:r>
            <a:endParaRPr lang="en-US" altLang="zh-CN" sz="900"/>
          </a:p>
          <a:p>
            <a:r>
              <a:rPr lang="en-US" altLang="zh-CN" sz="900"/>
              <a:t>[2,1,1]</a:t>
            </a:r>
            <a:endParaRPr lang="en-US" altLang="zh-CN" sz="900"/>
          </a:p>
          <a:p>
            <a:r>
              <a:rPr lang="en-US" altLang="zh-CN" sz="900"/>
              <a:t>Conv</a:t>
            </a:r>
            <a:endParaRPr lang="en-US" altLang="zh-CN" sz="900"/>
          </a:p>
        </p:txBody>
      </p:sp>
      <p:grpSp>
        <p:nvGrpSpPr>
          <p:cNvPr id="66" name="组合 65"/>
          <p:cNvGrpSpPr/>
          <p:nvPr/>
        </p:nvGrpSpPr>
        <p:grpSpPr>
          <a:xfrm>
            <a:off x="5179060" y="2186940"/>
            <a:ext cx="2155190" cy="2178685"/>
            <a:chOff x="6226" y="2211"/>
            <a:chExt cx="3394" cy="3431"/>
          </a:xfrm>
        </p:grpSpPr>
        <p:sp>
          <p:nvSpPr>
            <p:cNvPr id="68" name="圆角矩形 67"/>
            <p:cNvSpPr/>
            <p:nvPr/>
          </p:nvSpPr>
          <p:spPr>
            <a:xfrm>
              <a:off x="6227" y="2211"/>
              <a:ext cx="2222" cy="815"/>
            </a:xfrm>
            <a:prstGeom prst="roundRect">
              <a:avLst/>
            </a:prstGeom>
            <a:solidFill>
              <a:srgbClr val="D8D8D8"/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900">
                  <a:solidFill>
                    <a:schemeClr val="tx1"/>
                  </a:solidFill>
                </a:rPr>
                <a:t>Concat(upsample1 output+ConvBlock6 output,dim=1)</a:t>
              </a:r>
              <a:endParaRPr lang="en-US" altLang="zh-CN" sz="900">
                <a:solidFill>
                  <a:schemeClr val="tx1"/>
                </a:solidFill>
              </a:endParaRPr>
            </a:p>
          </p:txBody>
        </p:sp>
        <p:sp>
          <p:nvSpPr>
            <p:cNvPr id="70" name="圆角矩形 69"/>
            <p:cNvSpPr/>
            <p:nvPr/>
          </p:nvSpPr>
          <p:spPr>
            <a:xfrm>
              <a:off x="6226" y="3265"/>
              <a:ext cx="2223" cy="610"/>
            </a:xfrm>
            <a:prstGeom prst="roundRect">
              <a:avLst/>
            </a:prstGeom>
            <a:solidFill>
              <a:srgbClr val="E3E9C5"/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900">
                  <a:solidFill>
                    <a:schemeClr val="tx1"/>
                  </a:solidFill>
                  <a:sym typeface="+mn-ea"/>
                </a:rPr>
                <a:t>SmoothUpsampleBlock</a:t>
              </a:r>
              <a:endParaRPr lang="en-US" altLang="zh-CN" sz="900">
                <a:solidFill>
                  <a:schemeClr val="tx1"/>
                </a:solidFill>
              </a:endParaRPr>
            </a:p>
            <a:p>
              <a:pPr algn="ctr"/>
              <a:r>
                <a:rPr lang="en-US" altLang="zh-CN" sz="900">
                  <a:solidFill>
                    <a:schemeClr val="tx1"/>
                  </a:solidFill>
                  <a:sym typeface="+mn-ea"/>
                </a:rPr>
                <a:t>(upsample1,</a:t>
              </a:r>
              <a:r>
                <a:rPr lang="zh-CN" altLang="en-US" sz="9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  <a:sym typeface="+mn-ea"/>
                </a:rPr>
                <a:t>σ</a:t>
              </a:r>
              <a:r>
                <a:rPr lang="en-US" altLang="zh-CN" sz="9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  <a:sym typeface="+mn-ea"/>
                </a:rPr>
                <a:t>=1.0)</a:t>
              </a:r>
              <a:endParaRPr lang="en-US" altLang="zh-CN" sz="900">
                <a:solidFill>
                  <a:schemeClr val="tx1"/>
                </a:solidFill>
              </a:endParaRPr>
            </a:p>
          </p:txBody>
        </p:sp>
        <p:sp>
          <p:nvSpPr>
            <p:cNvPr id="71" name="圆角矩形 70"/>
            <p:cNvSpPr/>
            <p:nvPr/>
          </p:nvSpPr>
          <p:spPr>
            <a:xfrm>
              <a:off x="6226" y="4049"/>
              <a:ext cx="2224" cy="610"/>
            </a:xfrm>
            <a:prstGeom prst="roundRect">
              <a:avLst/>
            </a:prstGeom>
            <a:solidFill>
              <a:srgbClr val="E3E9C5"/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900">
                  <a:solidFill>
                    <a:schemeClr val="tx1"/>
                  </a:solidFill>
                </a:rPr>
                <a:t>AdaptiveAvgPool</a:t>
              </a:r>
              <a:endParaRPr lang="en-US" altLang="zh-CN" sz="900">
                <a:solidFill>
                  <a:schemeClr val="tx1"/>
                </a:solidFill>
              </a:endParaRPr>
            </a:p>
            <a:p>
              <a:pPr algn="ctr"/>
              <a:r>
                <a:rPr lang="en-US" altLang="zh-CN" sz="900">
                  <a:solidFill>
                    <a:schemeClr val="tx1"/>
                  </a:solidFill>
                </a:rPr>
                <a:t>(poolspa)</a:t>
              </a:r>
              <a:endParaRPr lang="en-US" altLang="zh-CN" sz="900">
                <a:solidFill>
                  <a:schemeClr val="tx1"/>
                </a:solidFill>
              </a:endParaRPr>
            </a:p>
          </p:txBody>
        </p:sp>
        <p:sp>
          <p:nvSpPr>
            <p:cNvPr id="72" name="圆角矩形 71"/>
            <p:cNvSpPr/>
            <p:nvPr/>
          </p:nvSpPr>
          <p:spPr>
            <a:xfrm>
              <a:off x="6227" y="4840"/>
              <a:ext cx="2223" cy="802"/>
            </a:xfrm>
            <a:prstGeom prst="roundRect">
              <a:avLst/>
            </a:prstGeom>
            <a:solidFill>
              <a:srgbClr val="E3E9C5"/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900">
                  <a:solidFill>
                    <a:schemeClr val="tx1"/>
                  </a:solidFill>
                </a:rPr>
                <a:t>SmoothRegHead</a:t>
              </a:r>
              <a:endParaRPr lang="en-US" altLang="zh-CN" sz="900">
                <a:solidFill>
                  <a:schemeClr val="tx1"/>
                </a:solidFill>
              </a:endParaRPr>
            </a:p>
            <a:p>
              <a:pPr algn="ctr"/>
              <a:r>
                <a:rPr lang="en-US" altLang="zh-CN" sz="900">
                  <a:solidFill>
                    <a:schemeClr val="tx1"/>
                  </a:solidFill>
                </a:rPr>
                <a:t>(9*9*9 Conv+Gaussian Smooth,</a:t>
              </a:r>
              <a:r>
                <a:rPr lang="zh-CN" altLang="en-US" sz="9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  <a:sym typeface="+mn-ea"/>
                </a:rPr>
                <a:t>σ</a:t>
              </a:r>
              <a:r>
                <a:rPr lang="en-US" altLang="zh-CN" sz="9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  <a:sym typeface="+mn-ea"/>
                </a:rPr>
                <a:t>=1.5)</a:t>
              </a:r>
              <a:endParaRPr lang="en-US" altLang="zh-CN" sz="9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endParaRPr>
            </a:p>
          </p:txBody>
        </p:sp>
        <p:cxnSp>
          <p:nvCxnSpPr>
            <p:cNvPr id="73" name="直接箭头连接符 72"/>
            <p:cNvCxnSpPr>
              <a:stCxn id="68" idx="2"/>
              <a:endCxn id="70" idx="0"/>
            </p:cNvCxnSpPr>
            <p:nvPr/>
          </p:nvCxnSpPr>
          <p:spPr>
            <a:xfrm>
              <a:off x="7338" y="3026"/>
              <a:ext cx="0" cy="23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5" name="直接箭头连接符 74"/>
            <p:cNvCxnSpPr>
              <a:stCxn id="70" idx="2"/>
              <a:endCxn id="71" idx="0"/>
            </p:cNvCxnSpPr>
            <p:nvPr/>
          </p:nvCxnSpPr>
          <p:spPr>
            <a:xfrm>
              <a:off x="7338" y="3875"/>
              <a:ext cx="0" cy="17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6" name="直接箭头连接符 75"/>
            <p:cNvCxnSpPr>
              <a:stCxn id="71" idx="2"/>
              <a:endCxn id="72" idx="0"/>
            </p:cNvCxnSpPr>
            <p:nvPr/>
          </p:nvCxnSpPr>
          <p:spPr>
            <a:xfrm>
              <a:off x="7338" y="4659"/>
              <a:ext cx="1" cy="18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78" name="文本框 77"/>
            <p:cNvSpPr txBox="1"/>
            <p:nvPr/>
          </p:nvSpPr>
          <p:spPr>
            <a:xfrm>
              <a:off x="8187" y="2945"/>
              <a:ext cx="1433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900"/>
                <a:t>rPPG Signal</a:t>
              </a:r>
              <a:endParaRPr lang="en-US" altLang="zh-CN" sz="900"/>
            </a:p>
            <a:p>
              <a:pPr algn="ctr"/>
              <a:r>
                <a:rPr lang="en-US" altLang="zh-CN" sz="900"/>
                <a:t>[B,T]</a:t>
              </a:r>
              <a:endParaRPr lang="en-US" altLang="zh-CN" sz="900"/>
            </a:p>
          </p:txBody>
        </p:sp>
      </p:grpSp>
      <p:grpSp>
        <p:nvGrpSpPr>
          <p:cNvPr id="84" name="组合 83"/>
          <p:cNvGrpSpPr/>
          <p:nvPr/>
        </p:nvGrpSpPr>
        <p:grpSpPr>
          <a:xfrm>
            <a:off x="6748780" y="2241550"/>
            <a:ext cx="427990" cy="411480"/>
            <a:chOff x="10463" y="3530"/>
            <a:chExt cx="674" cy="648"/>
          </a:xfrm>
        </p:grpSpPr>
        <p:sp>
          <p:nvSpPr>
            <p:cNvPr id="79" name="圆角矩形 78"/>
            <p:cNvSpPr/>
            <p:nvPr/>
          </p:nvSpPr>
          <p:spPr>
            <a:xfrm>
              <a:off x="10463" y="3530"/>
              <a:ext cx="674" cy="648"/>
            </a:xfrm>
            <a:prstGeom prst="roundRect">
              <a:avLst/>
            </a:prstGeom>
            <a:solidFill>
              <a:srgbClr val="FDF6C8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 sz="900">
                <a:solidFill>
                  <a:schemeClr val="tx1"/>
                </a:solidFill>
              </a:endParaRPr>
            </a:p>
          </p:txBody>
        </p:sp>
        <p:sp>
          <p:nvSpPr>
            <p:cNvPr id="80" name="任意多边形 79"/>
            <p:cNvSpPr/>
            <p:nvPr/>
          </p:nvSpPr>
          <p:spPr>
            <a:xfrm>
              <a:off x="10520" y="3605"/>
              <a:ext cx="572" cy="490"/>
            </a:xfrm>
            <a:custGeom>
              <a:avLst/>
              <a:gdLst>
                <a:gd name="connsiteX0" fmla="*/ 0 w 572"/>
                <a:gd name="connsiteY0" fmla="*/ 357 h 490"/>
                <a:gd name="connsiteX1" fmla="*/ 113 w 572"/>
                <a:gd name="connsiteY1" fmla="*/ 1 h 490"/>
                <a:gd name="connsiteX2" fmla="*/ 216 w 572"/>
                <a:gd name="connsiteY2" fmla="*/ 469 h 490"/>
                <a:gd name="connsiteX3" fmla="*/ 338 w 572"/>
                <a:gd name="connsiteY3" fmla="*/ 188 h 490"/>
                <a:gd name="connsiteX4" fmla="*/ 413 w 572"/>
                <a:gd name="connsiteY4" fmla="*/ 329 h 490"/>
                <a:gd name="connsiteX5" fmla="*/ 460 w 572"/>
                <a:gd name="connsiteY5" fmla="*/ 301 h 490"/>
                <a:gd name="connsiteX6" fmla="*/ 535 w 572"/>
                <a:gd name="connsiteY6" fmla="*/ 357 h 490"/>
                <a:gd name="connsiteX7" fmla="*/ 572 w 572"/>
                <a:gd name="connsiteY7" fmla="*/ 338 h 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72" h="490">
                  <a:moveTo>
                    <a:pt x="0" y="357"/>
                  </a:moveTo>
                  <a:cubicBezTo>
                    <a:pt x="21" y="276"/>
                    <a:pt x="70" y="-21"/>
                    <a:pt x="113" y="1"/>
                  </a:cubicBezTo>
                  <a:cubicBezTo>
                    <a:pt x="156" y="23"/>
                    <a:pt x="198" y="368"/>
                    <a:pt x="216" y="469"/>
                  </a:cubicBezTo>
                  <a:cubicBezTo>
                    <a:pt x="234" y="570"/>
                    <a:pt x="297" y="281"/>
                    <a:pt x="338" y="188"/>
                  </a:cubicBezTo>
                  <a:cubicBezTo>
                    <a:pt x="379" y="95"/>
                    <a:pt x="388" y="282"/>
                    <a:pt x="413" y="329"/>
                  </a:cubicBezTo>
                  <a:cubicBezTo>
                    <a:pt x="438" y="376"/>
                    <a:pt x="444" y="310"/>
                    <a:pt x="460" y="301"/>
                  </a:cubicBezTo>
                  <a:cubicBezTo>
                    <a:pt x="476" y="292"/>
                    <a:pt x="510" y="338"/>
                    <a:pt x="535" y="357"/>
                  </a:cubicBezTo>
                  <a:cubicBezTo>
                    <a:pt x="560" y="376"/>
                    <a:pt x="559" y="344"/>
                    <a:pt x="572" y="338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81" name="直接箭头连接符 80"/>
          <p:cNvCxnSpPr/>
          <p:nvPr/>
        </p:nvCxnSpPr>
        <p:spPr>
          <a:xfrm>
            <a:off x="6590665" y="2446020"/>
            <a:ext cx="158115" cy="12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2" name="文本框 81"/>
          <p:cNvSpPr txBox="1"/>
          <p:nvPr/>
        </p:nvSpPr>
        <p:spPr>
          <a:xfrm rot="5400000">
            <a:off x="4546600" y="1412875"/>
            <a:ext cx="90995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900"/>
              <a:t>MaxPool</a:t>
            </a:r>
            <a:endParaRPr lang="en-US" altLang="zh-CN" sz="900"/>
          </a:p>
        </p:txBody>
      </p:sp>
      <p:cxnSp>
        <p:nvCxnSpPr>
          <p:cNvPr id="83" name="肘形连接符 82"/>
          <p:cNvCxnSpPr/>
          <p:nvPr/>
        </p:nvCxnSpPr>
        <p:spPr>
          <a:xfrm flipH="1">
            <a:off x="4816475" y="1283335"/>
            <a:ext cx="5080" cy="3172460"/>
          </a:xfrm>
          <a:prstGeom prst="bentConnector3">
            <a:avLst>
              <a:gd name="adj1" fmla="val -6212500"/>
            </a:avLst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5" name="肘形连接符 84"/>
          <p:cNvCxnSpPr/>
          <p:nvPr/>
        </p:nvCxnSpPr>
        <p:spPr>
          <a:xfrm>
            <a:off x="4815840" y="1899920"/>
            <a:ext cx="363855" cy="546100"/>
          </a:xfrm>
          <a:prstGeom prst="bentConnector3">
            <a:avLst>
              <a:gd name="adj1" fmla="val 50087"/>
            </a:avLst>
          </a:prstGeom>
          <a:ln w="19050" cmpd="sng">
            <a:solidFill>
              <a:schemeClr val="bg2">
                <a:lumMod val="50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6" name="肘形连接符 85"/>
          <p:cNvCxnSpPr/>
          <p:nvPr/>
        </p:nvCxnSpPr>
        <p:spPr>
          <a:xfrm flipV="1">
            <a:off x="4822825" y="2446020"/>
            <a:ext cx="356870" cy="829945"/>
          </a:xfrm>
          <a:prstGeom prst="bentConnector3">
            <a:avLst>
              <a:gd name="adj1" fmla="val 50000"/>
            </a:avLst>
          </a:prstGeom>
          <a:ln w="19050" cmpd="sng">
            <a:solidFill>
              <a:schemeClr val="bg2">
                <a:lumMod val="50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8" name="文本框 87"/>
          <p:cNvSpPr txBox="1"/>
          <p:nvPr/>
        </p:nvSpPr>
        <p:spPr>
          <a:xfrm>
            <a:off x="484505" y="2653030"/>
            <a:ext cx="1045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Facial Video</a:t>
            </a:r>
            <a:endParaRPr lang="en-US" altLang="zh-CN" sz="1200"/>
          </a:p>
          <a:p>
            <a:r>
              <a:rPr lang="en-US" altLang="zh-CN" sz="1200"/>
              <a:t>[B,3,T,H,W]</a:t>
            </a:r>
            <a:endParaRPr lang="en-US" altLang="zh-CN" sz="1200"/>
          </a:p>
        </p:txBody>
      </p:sp>
      <p:grpSp>
        <p:nvGrpSpPr>
          <p:cNvPr id="153" name="组合 152"/>
          <p:cNvGrpSpPr/>
          <p:nvPr/>
        </p:nvGrpSpPr>
        <p:grpSpPr>
          <a:xfrm>
            <a:off x="7301230" y="245745"/>
            <a:ext cx="3124200" cy="4554855"/>
            <a:chOff x="13372" y="654"/>
            <a:chExt cx="4920" cy="7173"/>
          </a:xfrm>
        </p:grpSpPr>
        <p:sp>
          <p:nvSpPr>
            <p:cNvPr id="130" name="圆角矩形 129"/>
            <p:cNvSpPr/>
            <p:nvPr/>
          </p:nvSpPr>
          <p:spPr>
            <a:xfrm>
              <a:off x="13372" y="654"/>
              <a:ext cx="4920" cy="7173"/>
            </a:xfrm>
            <a:prstGeom prst="roundRect">
              <a:avLst>
                <a:gd name="adj" fmla="val 5614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12700" cmpd="sng">
              <a:solidFill>
                <a:schemeClr val="accent2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t" anchorCtr="0"/>
            <a:p>
              <a:pPr algn="ctr"/>
              <a:r>
                <a:rPr lang="en-US" altLang="zh-CN" sz="1600" b="1" i="1">
                  <a:solidFill>
                    <a:schemeClr val="accent2">
                      <a:lumMod val="50000"/>
                    </a:schemeClr>
                  </a:solidFill>
                </a:rPr>
                <a:t>FreqSepBlock</a:t>
              </a:r>
              <a:endParaRPr lang="en-US" altLang="zh-CN" sz="1600" b="1" i="1">
                <a:solidFill>
                  <a:schemeClr val="accent2">
                    <a:lumMod val="50000"/>
                  </a:schemeClr>
                </a:solidFill>
              </a:endParaRPr>
            </a:p>
          </p:txBody>
        </p:sp>
        <p:sp>
          <p:nvSpPr>
            <p:cNvPr id="151" name="圆角矩形 150"/>
            <p:cNvSpPr/>
            <p:nvPr/>
          </p:nvSpPr>
          <p:spPr>
            <a:xfrm>
              <a:off x="15425" y="6041"/>
              <a:ext cx="970" cy="1080"/>
            </a:xfrm>
            <a:prstGeom prst="roundRect">
              <a:avLst/>
            </a:prstGeom>
            <a:solidFill>
              <a:srgbClr val="E4D5F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 sz="900">
                <a:solidFill>
                  <a:schemeClr val="tx1"/>
                </a:solidFill>
              </a:endParaRPr>
            </a:p>
          </p:txBody>
        </p:sp>
        <p:sp>
          <p:nvSpPr>
            <p:cNvPr id="138" name="圆角矩形 137"/>
            <p:cNvSpPr/>
            <p:nvPr/>
          </p:nvSpPr>
          <p:spPr>
            <a:xfrm>
              <a:off x="13757" y="6452"/>
              <a:ext cx="1517" cy="581"/>
            </a:xfrm>
            <a:prstGeom prst="roundRect">
              <a:avLst/>
            </a:prstGeom>
            <a:noFill/>
            <a:ln w="12700" cmpd="sng">
              <a:solidFill>
                <a:schemeClr val="accent3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n w="12700" cmpd="sng">
                  <a:noFill/>
                  <a:prstDash val="sysDash"/>
                </a:ln>
                <a:noFill/>
              </a:endParaRPr>
            </a:p>
          </p:txBody>
        </p:sp>
        <p:grpSp>
          <p:nvGrpSpPr>
            <p:cNvPr id="89" name="组合 88"/>
            <p:cNvGrpSpPr/>
            <p:nvPr/>
          </p:nvGrpSpPr>
          <p:grpSpPr>
            <a:xfrm>
              <a:off x="13531" y="2026"/>
              <a:ext cx="3521" cy="2983"/>
              <a:chOff x="6226" y="2517"/>
              <a:chExt cx="3521" cy="2983"/>
            </a:xfrm>
          </p:grpSpPr>
          <p:sp>
            <p:nvSpPr>
              <p:cNvPr id="90" name="圆角矩形 89"/>
              <p:cNvSpPr/>
              <p:nvPr/>
            </p:nvSpPr>
            <p:spPr>
              <a:xfrm>
                <a:off x="6227" y="2816"/>
                <a:ext cx="2222" cy="366"/>
              </a:xfrm>
              <a:prstGeom prst="roundRect">
                <a:avLst/>
              </a:prstGeom>
              <a:solidFill>
                <a:srgbClr val="BBD4E6"/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900">
                    <a:solidFill>
                      <a:schemeClr val="tx1"/>
                    </a:solidFill>
                  </a:rPr>
                  <a:t>CDC</a:t>
                </a:r>
                <a:r>
                  <a:rPr lang="en-US" altLang="zh-CN" sz="900" baseline="-25000">
                    <a:solidFill>
                      <a:schemeClr val="tx1"/>
                    </a:solidFill>
                  </a:rPr>
                  <a:t>_T</a:t>
                </a:r>
                <a:r>
                  <a:rPr lang="en-US" altLang="zh-CN" sz="900">
                    <a:solidFill>
                      <a:schemeClr val="tx1"/>
                    </a:solidFill>
                  </a:rPr>
                  <a:t>(</a:t>
                </a:r>
                <a:r>
                  <a:rPr lang="zh-CN" altLang="en-US" sz="9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Θ</a:t>
                </a:r>
                <a:r>
                  <a:rPr lang="en-US" altLang="zh-CN" sz="9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=0.5)</a:t>
                </a:r>
                <a:endParaRPr lang="en-US" altLang="zh-CN" sz="900">
                  <a:solidFill>
                    <a:schemeClr val="tx1"/>
                  </a:solidFill>
                </a:endParaRPr>
              </a:p>
            </p:txBody>
          </p:sp>
          <p:sp>
            <p:nvSpPr>
              <p:cNvPr id="91" name="圆角矩形 90"/>
              <p:cNvSpPr/>
              <p:nvPr/>
            </p:nvSpPr>
            <p:spPr>
              <a:xfrm>
                <a:off x="6226" y="3394"/>
                <a:ext cx="2223" cy="447"/>
              </a:xfrm>
              <a:prstGeom prst="roundRect">
                <a:avLst/>
              </a:prstGeom>
              <a:solidFill>
                <a:srgbClr val="BBD4E6"/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r>
                  <a:rPr lang="en-US" altLang="zh-CN" sz="900">
                    <a:solidFill>
                      <a:schemeClr val="tx1"/>
                    </a:solidFill>
                    <a:sym typeface="+mn-ea"/>
                  </a:rPr>
                  <a:t>BN+ReLU</a:t>
                </a:r>
                <a:endParaRPr lang="en-US" altLang="zh-CN" sz="900">
                  <a:solidFill>
                    <a:schemeClr val="tx1"/>
                  </a:solidFill>
                  <a:sym typeface="+mn-ea"/>
                </a:endParaRPr>
              </a:p>
            </p:txBody>
          </p:sp>
          <p:sp>
            <p:nvSpPr>
              <p:cNvPr id="92" name="圆角矩形 91"/>
              <p:cNvSpPr/>
              <p:nvPr/>
            </p:nvSpPr>
            <p:spPr>
              <a:xfrm>
                <a:off x="6226" y="4053"/>
                <a:ext cx="2224" cy="446"/>
              </a:xfrm>
              <a:prstGeom prst="roundRect">
                <a:avLst/>
              </a:prstGeom>
              <a:solidFill>
                <a:srgbClr val="BBD4E6"/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r>
                  <a:rPr lang="en-US" altLang="zh-CN" sz="900">
                    <a:solidFill>
                      <a:schemeClr val="tx1"/>
                    </a:solidFill>
                    <a:sym typeface="+mn-ea"/>
                  </a:rPr>
                  <a:t>BiMamba</a:t>
                </a:r>
                <a:endParaRPr lang="en-US" altLang="zh-CN" sz="900">
                  <a:solidFill>
                    <a:schemeClr val="tx1"/>
                  </a:solidFill>
                  <a:sym typeface="+mn-ea"/>
                </a:endParaRPr>
              </a:p>
            </p:txBody>
          </p:sp>
          <p:sp>
            <p:nvSpPr>
              <p:cNvPr id="93" name="圆角矩形 92"/>
              <p:cNvSpPr/>
              <p:nvPr/>
            </p:nvSpPr>
            <p:spPr>
              <a:xfrm>
                <a:off x="6227" y="4711"/>
                <a:ext cx="2223" cy="789"/>
              </a:xfrm>
              <a:prstGeom prst="roundRect">
                <a:avLst/>
              </a:prstGeom>
              <a:solidFill>
                <a:srgbClr val="BBD4E6"/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r>
                  <a:rPr lang="en-US" altLang="zh-CN" sz="900">
                    <a:solidFill>
                      <a:schemeClr val="tx1"/>
                    </a:solidFill>
                    <a:sym typeface="+mn-ea"/>
                  </a:rPr>
                  <a:t>ChannelAttention</a:t>
                </a:r>
                <a:endParaRPr lang="en-US" altLang="zh-CN" sz="900">
                  <a:solidFill>
                    <a:schemeClr val="tx1"/>
                  </a:solidFill>
                  <a:sym typeface="+mn-ea"/>
                </a:endParaRPr>
              </a:p>
              <a:p>
                <a:pPr lvl="0" algn="ctr">
                  <a:buClrTx/>
                  <a:buSzTx/>
                  <a:buFontTx/>
                </a:pPr>
                <a:r>
                  <a:rPr lang="en-US" altLang="zh-CN" sz="900">
                    <a:solidFill>
                      <a:schemeClr val="tx1"/>
                    </a:solidFill>
                    <a:sym typeface="+mn-ea"/>
                  </a:rPr>
                  <a:t>(</a:t>
                </a:r>
                <a:r>
                  <a:rPr lang="en-US" altLang="zh-CN" sz="900">
                    <a:solidFill>
                      <a:schemeClr val="tx1"/>
                    </a:solidFill>
                    <a:sym typeface="+mn-ea"/>
                  </a:rPr>
                  <a:t>AvgPool </a:t>
                </a:r>
                <a:r>
                  <a:rPr lang="zh-CN" altLang="en-US" sz="9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⊕</a:t>
                </a:r>
                <a:r>
                  <a:rPr lang="en-US" altLang="zh-CN" sz="9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 MaxPool</a:t>
                </a:r>
                <a:endParaRPr lang="en-US" altLang="zh-CN" sz="9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  <a:p>
                <a:pPr lvl="0" algn="ctr">
                  <a:buClrTx/>
                  <a:buSzTx/>
                  <a:buFontTx/>
                </a:pPr>
                <a:r>
                  <a:rPr lang="en-US" altLang="zh-CN" sz="9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→FC→</a:t>
                </a:r>
                <a:r>
                  <a:rPr lang="en-US" altLang="zh-CN" sz="900">
                    <a:solidFill>
                      <a:schemeClr val="tx1"/>
                    </a:solidFill>
                    <a:sym typeface="+mn-ea"/>
                  </a:rPr>
                  <a:t>S</a:t>
                </a:r>
                <a:r>
                  <a:rPr lang="en-US" altLang="zh-CN" sz="900">
                    <a:solidFill>
                      <a:schemeClr val="tx1"/>
                    </a:solidFill>
                    <a:sym typeface="+mn-ea"/>
                  </a:rPr>
                  <a:t>igmoid</a:t>
                </a:r>
                <a:r>
                  <a:rPr lang="en-US" altLang="zh-CN" sz="900">
                    <a:solidFill>
                      <a:schemeClr val="tx1"/>
                    </a:solidFill>
                    <a:sym typeface="+mn-ea"/>
                  </a:rPr>
                  <a:t>)</a:t>
                </a:r>
                <a:endParaRPr lang="en-US" altLang="zh-CN" sz="900">
                  <a:solidFill>
                    <a:schemeClr val="tx1"/>
                  </a:solidFill>
                  <a:sym typeface="+mn-ea"/>
                </a:endParaRPr>
              </a:p>
            </p:txBody>
          </p:sp>
          <p:cxnSp>
            <p:nvCxnSpPr>
              <p:cNvPr id="94" name="直接箭头连接符 93"/>
              <p:cNvCxnSpPr>
                <a:stCxn id="90" idx="2"/>
                <a:endCxn id="91" idx="0"/>
              </p:cNvCxnSpPr>
              <p:nvPr/>
            </p:nvCxnSpPr>
            <p:spPr>
              <a:xfrm>
                <a:off x="7338" y="3182"/>
                <a:ext cx="0" cy="21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95" name="直接箭头连接符 94"/>
              <p:cNvCxnSpPr>
                <a:stCxn id="91" idx="2"/>
                <a:endCxn id="92" idx="0"/>
              </p:cNvCxnSpPr>
              <p:nvPr/>
            </p:nvCxnSpPr>
            <p:spPr>
              <a:xfrm>
                <a:off x="7338" y="3841"/>
                <a:ext cx="0" cy="21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96" name="直接箭头连接符 95"/>
              <p:cNvCxnSpPr/>
              <p:nvPr/>
            </p:nvCxnSpPr>
            <p:spPr>
              <a:xfrm>
                <a:off x="7234" y="4499"/>
                <a:ext cx="1" cy="212"/>
              </a:xfrm>
              <a:prstGeom prst="straightConnector1">
                <a:avLst/>
              </a:prstGeom>
              <a:ln>
                <a:solidFill>
                  <a:schemeClr val="accent1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97" name="文本框 96"/>
              <p:cNvSpPr txBox="1"/>
              <p:nvPr/>
            </p:nvSpPr>
            <p:spPr>
              <a:xfrm>
                <a:off x="7496" y="2517"/>
                <a:ext cx="2251" cy="3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900"/>
                  <a:t>kernel=5*5*5,</a:t>
                </a:r>
                <a:r>
                  <a:rPr lang="zh-CN" altLang="en-US" sz="900">
                    <a:latin typeface="Arial" panose="020B0604020202020204" pitchFamily="34" charset="0"/>
                    <a:ea typeface="微软雅黑" panose="020B0503020204020204" charset="-122"/>
                    <a:cs typeface="Arial" panose="020B0604020202020204" pitchFamily="34" charset="0"/>
                    <a:sym typeface="+mn-ea"/>
                  </a:rPr>
                  <a:t>σ</a:t>
                </a:r>
                <a:r>
                  <a:rPr lang="en-US" altLang="zh-CN" sz="900">
                    <a:latin typeface="Arial" panose="020B0604020202020204" pitchFamily="34" charset="0"/>
                    <a:ea typeface="微软雅黑" panose="020B0503020204020204" charset="-122"/>
                    <a:cs typeface="Arial" panose="020B0604020202020204" pitchFamily="34" charset="0"/>
                    <a:sym typeface="+mn-ea"/>
                  </a:rPr>
                  <a:t>=1.8/0.8</a:t>
                </a:r>
                <a:endParaRPr lang="en-US" altLang="zh-CN" sz="900"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  <a:sym typeface="+mn-ea"/>
                </a:endParaRPr>
              </a:p>
            </p:txBody>
          </p:sp>
        </p:grpSp>
        <p:grpSp>
          <p:nvGrpSpPr>
            <p:cNvPr id="100" name="组合 99"/>
            <p:cNvGrpSpPr/>
            <p:nvPr/>
          </p:nvGrpSpPr>
          <p:grpSpPr>
            <a:xfrm>
              <a:off x="15945" y="2325"/>
              <a:ext cx="2224" cy="2684"/>
              <a:chOff x="6226" y="2816"/>
              <a:chExt cx="2224" cy="2684"/>
            </a:xfrm>
          </p:grpSpPr>
          <p:sp>
            <p:nvSpPr>
              <p:cNvPr id="101" name="圆角矩形 100"/>
              <p:cNvSpPr/>
              <p:nvPr/>
            </p:nvSpPr>
            <p:spPr>
              <a:xfrm>
                <a:off x="6227" y="2816"/>
                <a:ext cx="2222" cy="366"/>
              </a:xfrm>
              <a:prstGeom prst="roundRect">
                <a:avLst/>
              </a:prstGeom>
              <a:solidFill>
                <a:srgbClr val="F5C3A0"/>
              </a:solidFill>
              <a:ln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900">
                    <a:solidFill>
                      <a:schemeClr val="tx1"/>
                    </a:solidFill>
                  </a:rPr>
                  <a:t>CDC</a:t>
                </a:r>
                <a:r>
                  <a:rPr lang="en-US" altLang="zh-CN" sz="900" baseline="-25000">
                    <a:solidFill>
                      <a:schemeClr val="tx1"/>
                    </a:solidFill>
                  </a:rPr>
                  <a:t>_T</a:t>
                </a:r>
                <a:r>
                  <a:rPr lang="en-US" altLang="zh-CN" sz="900">
                    <a:solidFill>
                      <a:schemeClr val="tx1"/>
                    </a:solidFill>
                  </a:rPr>
                  <a:t>(</a:t>
                </a:r>
                <a:r>
                  <a:rPr lang="zh-CN" altLang="en-US" sz="9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Θ</a:t>
                </a:r>
                <a:r>
                  <a:rPr lang="en-US" altLang="zh-CN" sz="90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=0.5)</a:t>
                </a:r>
                <a:endParaRPr lang="en-US" altLang="zh-CN" sz="900">
                  <a:solidFill>
                    <a:schemeClr val="tx1"/>
                  </a:solidFill>
                </a:endParaRPr>
              </a:p>
            </p:txBody>
          </p:sp>
          <p:sp>
            <p:nvSpPr>
              <p:cNvPr id="102" name="圆角矩形 101"/>
              <p:cNvSpPr/>
              <p:nvPr/>
            </p:nvSpPr>
            <p:spPr>
              <a:xfrm>
                <a:off x="6226" y="3394"/>
                <a:ext cx="2223" cy="447"/>
              </a:xfrm>
              <a:prstGeom prst="roundRect">
                <a:avLst/>
              </a:prstGeom>
              <a:solidFill>
                <a:srgbClr val="F5C3A0"/>
              </a:solidFill>
              <a:ln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r>
                  <a:rPr lang="en-US" altLang="zh-CN" sz="900">
                    <a:solidFill>
                      <a:schemeClr val="tx1"/>
                    </a:solidFill>
                    <a:sym typeface="+mn-ea"/>
                  </a:rPr>
                  <a:t>BN+ReLU</a:t>
                </a:r>
                <a:endParaRPr lang="en-US" altLang="zh-CN" sz="900">
                  <a:solidFill>
                    <a:schemeClr val="tx1"/>
                  </a:solidFill>
                  <a:sym typeface="+mn-ea"/>
                </a:endParaRPr>
              </a:p>
            </p:txBody>
          </p:sp>
          <p:sp>
            <p:nvSpPr>
              <p:cNvPr id="103" name="圆角矩形 102"/>
              <p:cNvSpPr/>
              <p:nvPr/>
            </p:nvSpPr>
            <p:spPr>
              <a:xfrm>
                <a:off x="6226" y="4053"/>
                <a:ext cx="2224" cy="446"/>
              </a:xfrm>
              <a:prstGeom prst="roundRect">
                <a:avLst/>
              </a:prstGeom>
              <a:solidFill>
                <a:srgbClr val="F5C3A0"/>
              </a:solidFill>
              <a:ln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r>
                  <a:rPr lang="en-US" altLang="zh-CN" sz="900">
                    <a:solidFill>
                      <a:schemeClr val="tx1"/>
                    </a:solidFill>
                    <a:sym typeface="+mn-ea"/>
                  </a:rPr>
                  <a:t>BiMamba</a:t>
                </a:r>
                <a:endParaRPr lang="en-US" altLang="zh-CN" sz="900">
                  <a:solidFill>
                    <a:schemeClr val="tx1"/>
                  </a:solidFill>
                  <a:sym typeface="+mn-ea"/>
                </a:endParaRPr>
              </a:p>
            </p:txBody>
          </p:sp>
          <p:sp>
            <p:nvSpPr>
              <p:cNvPr id="104" name="圆角矩形 103"/>
              <p:cNvSpPr/>
              <p:nvPr/>
            </p:nvSpPr>
            <p:spPr>
              <a:xfrm>
                <a:off x="6227" y="4711"/>
                <a:ext cx="2223" cy="789"/>
              </a:xfrm>
              <a:prstGeom prst="roundRect">
                <a:avLst/>
              </a:prstGeom>
              <a:solidFill>
                <a:srgbClr val="F5C3A0"/>
              </a:solidFill>
              <a:ln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r>
                  <a:rPr lang="en-US" altLang="zh-CN" sz="900">
                    <a:solidFill>
                      <a:schemeClr val="tx1"/>
                    </a:solidFill>
                    <a:sym typeface="+mn-ea"/>
                  </a:rPr>
                  <a:t>ChannelAttention</a:t>
                </a:r>
                <a:endParaRPr lang="en-US" altLang="zh-CN" sz="900">
                  <a:solidFill>
                    <a:schemeClr val="tx1"/>
                  </a:solidFill>
                  <a:sym typeface="+mn-ea"/>
                </a:endParaRPr>
              </a:p>
            </p:txBody>
          </p:sp>
          <p:cxnSp>
            <p:nvCxnSpPr>
              <p:cNvPr id="105" name="直接箭头连接符 104"/>
              <p:cNvCxnSpPr>
                <a:stCxn id="101" idx="2"/>
                <a:endCxn id="102" idx="0"/>
              </p:cNvCxnSpPr>
              <p:nvPr/>
            </p:nvCxnSpPr>
            <p:spPr>
              <a:xfrm>
                <a:off x="7338" y="3182"/>
                <a:ext cx="0" cy="21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06" name="直接箭头连接符 105"/>
              <p:cNvCxnSpPr>
                <a:stCxn id="102" idx="2"/>
                <a:endCxn id="103" idx="0"/>
              </p:cNvCxnSpPr>
              <p:nvPr/>
            </p:nvCxnSpPr>
            <p:spPr>
              <a:xfrm>
                <a:off x="7338" y="3841"/>
                <a:ext cx="0" cy="21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07" name="直接箭头连接符 106"/>
              <p:cNvCxnSpPr>
                <a:stCxn id="103" idx="2"/>
                <a:endCxn id="104" idx="0"/>
              </p:cNvCxnSpPr>
              <p:nvPr/>
            </p:nvCxnSpPr>
            <p:spPr>
              <a:xfrm>
                <a:off x="7338" y="4499"/>
                <a:ext cx="1" cy="21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cxnSp>
          <p:nvCxnSpPr>
            <p:cNvPr id="109" name="直接箭头连接符 108"/>
            <p:cNvCxnSpPr/>
            <p:nvPr/>
          </p:nvCxnSpPr>
          <p:spPr>
            <a:xfrm flipV="1">
              <a:off x="14800" y="4008"/>
              <a:ext cx="1" cy="212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127" name="组合 126"/>
            <p:cNvGrpSpPr/>
            <p:nvPr/>
          </p:nvGrpSpPr>
          <p:grpSpPr>
            <a:xfrm>
              <a:off x="13480" y="1252"/>
              <a:ext cx="4688" cy="841"/>
              <a:chOff x="13439" y="911"/>
              <a:chExt cx="4688" cy="841"/>
            </a:xfrm>
          </p:grpSpPr>
          <p:grpSp>
            <p:nvGrpSpPr>
              <p:cNvPr id="123" name="组合 122"/>
              <p:cNvGrpSpPr/>
              <p:nvPr/>
            </p:nvGrpSpPr>
            <p:grpSpPr>
              <a:xfrm>
                <a:off x="13493" y="938"/>
                <a:ext cx="4635" cy="815"/>
                <a:chOff x="13533" y="1189"/>
                <a:chExt cx="4635" cy="815"/>
              </a:xfrm>
            </p:grpSpPr>
            <p:sp>
              <p:nvSpPr>
                <p:cNvPr id="110" name="任意多边形 109"/>
                <p:cNvSpPr/>
                <p:nvPr/>
              </p:nvSpPr>
              <p:spPr>
                <a:xfrm>
                  <a:off x="13572" y="1189"/>
                  <a:ext cx="4481" cy="557"/>
                </a:xfrm>
                <a:custGeom>
                  <a:avLst/>
                  <a:gdLst>
                    <a:gd name="adj" fmla="val 16667"/>
                    <a:gd name="a" fmla="pin 0 adj 50000"/>
                    <a:gd name="x1" fmla="*/ ss a 100000"/>
                    <a:gd name="x2" fmla="+- r 0 x1"/>
                    <a:gd name="y2" fmla="+- b 0 x1"/>
                    <a:gd name="il" fmla="*/ x1 29289 100000"/>
                    <a:gd name="ir" fmla="+- r 0 il"/>
                    <a:gd name="ib" fmla="+- b 0 il"/>
                  </a:gdLst>
                  <a:ahLst/>
                  <a:cxnLst>
                    <a:cxn ang="3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4481" h="557">
                      <a:moveTo>
                        <a:pt x="97" y="0"/>
                      </a:moveTo>
                      <a:lnTo>
                        <a:pt x="4462" y="0"/>
                      </a:lnTo>
                      <a:cubicBezTo>
                        <a:pt x="4466" y="0"/>
                        <a:pt x="4471" y="0"/>
                        <a:pt x="4475" y="1"/>
                      </a:cubicBezTo>
                      <a:lnTo>
                        <a:pt x="4481" y="2"/>
                      </a:lnTo>
                      <a:lnTo>
                        <a:pt x="2158" y="557"/>
                      </a:lnTo>
                      <a:lnTo>
                        <a:pt x="0" y="41"/>
                      </a:lnTo>
                      <a:lnTo>
                        <a:pt x="1" y="40"/>
                      </a:lnTo>
                      <a:cubicBezTo>
                        <a:pt x="26" y="15"/>
                        <a:pt x="60" y="0"/>
                        <a:pt x="97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DFE9D5"/>
                    </a:gs>
                    <a:gs pos="100000">
                      <a:schemeClr val="accent6">
                        <a:lumMod val="20000"/>
                        <a:lumOff val="80000"/>
                      </a:schemeClr>
                    </a:gs>
                  </a:gsLst>
                  <a:lin ang="0" scaled="0"/>
                </a:gra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p>
                  <a:pPr algn="ctr"/>
                  <a:endParaRPr lang="en-US" altLang="zh-CN" sz="9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0" name="任意多边形 119"/>
                <p:cNvSpPr/>
                <p:nvPr/>
              </p:nvSpPr>
              <p:spPr>
                <a:xfrm>
                  <a:off x="14652" y="1746"/>
                  <a:ext cx="2156" cy="258"/>
                </a:xfrm>
                <a:custGeom>
                  <a:avLst/>
                  <a:gdLst>
                    <a:gd name="adj" fmla="val 16667"/>
                    <a:gd name="a" fmla="pin 0 adj 50000"/>
                    <a:gd name="x1" fmla="*/ ss a 100000"/>
                    <a:gd name="x2" fmla="+- r 0 x1"/>
                    <a:gd name="y2" fmla="+- b 0 x1"/>
                    <a:gd name="il" fmla="*/ x1 29289 100000"/>
                    <a:gd name="ir" fmla="+- r 0 il"/>
                    <a:gd name="ib" fmla="+- b 0 il"/>
                  </a:gdLst>
                  <a:ahLst/>
                  <a:cxnLst>
                    <a:cxn ang="3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2156" h="258">
                      <a:moveTo>
                        <a:pt x="1078" y="0"/>
                      </a:moveTo>
                      <a:lnTo>
                        <a:pt x="2156" y="258"/>
                      </a:lnTo>
                      <a:lnTo>
                        <a:pt x="0" y="258"/>
                      </a:lnTo>
                      <a:lnTo>
                        <a:pt x="1078" y="0"/>
                      </a:lnTo>
                      <a:close/>
                    </a:path>
                  </a:pathLst>
                </a:custGeom>
                <a:solidFill>
                  <a:srgbClr val="D6D7D2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altLang="zh-CN" sz="9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1" name="任意多边形 120"/>
                <p:cNvSpPr/>
                <p:nvPr/>
              </p:nvSpPr>
              <p:spPr>
                <a:xfrm>
                  <a:off x="15730" y="1191"/>
                  <a:ext cx="2439" cy="813"/>
                </a:xfrm>
                <a:custGeom>
                  <a:avLst/>
                  <a:gdLst>
                    <a:gd name="adj" fmla="val 16667"/>
                    <a:gd name="a" fmla="pin 0 adj 50000"/>
                    <a:gd name="x1" fmla="*/ ss a 100000"/>
                    <a:gd name="x2" fmla="+- r 0 x1"/>
                    <a:gd name="y2" fmla="+- b 0 x1"/>
                    <a:gd name="il" fmla="*/ x1 29289 100000"/>
                    <a:gd name="ir" fmla="+- r 0 il"/>
                    <a:gd name="ib" fmla="+- b 0 il"/>
                  </a:gdLst>
                  <a:ahLst/>
                  <a:cxnLst>
                    <a:cxn ang="3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2439" h="813">
                      <a:moveTo>
                        <a:pt x="2323" y="0"/>
                      </a:moveTo>
                      <a:lnTo>
                        <a:pt x="2331" y="1"/>
                      </a:lnTo>
                      <a:cubicBezTo>
                        <a:pt x="2393" y="14"/>
                        <a:pt x="2439" y="69"/>
                        <a:pt x="2439" y="134"/>
                      </a:cubicBezTo>
                      <a:lnTo>
                        <a:pt x="2439" y="678"/>
                      </a:lnTo>
                      <a:cubicBezTo>
                        <a:pt x="2439" y="753"/>
                        <a:pt x="2378" y="813"/>
                        <a:pt x="2303" y="813"/>
                      </a:cubicBezTo>
                      <a:lnTo>
                        <a:pt x="1078" y="813"/>
                      </a:lnTo>
                      <a:lnTo>
                        <a:pt x="0" y="556"/>
                      </a:lnTo>
                      <a:lnTo>
                        <a:pt x="2323" y="0"/>
                      </a:lnTo>
                      <a:close/>
                    </a:path>
                  </a:pathLst>
                </a:cu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altLang="zh-CN" sz="9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2" name="任意多边形 121"/>
                <p:cNvSpPr/>
                <p:nvPr/>
              </p:nvSpPr>
              <p:spPr>
                <a:xfrm>
                  <a:off x="13533" y="1230"/>
                  <a:ext cx="2197" cy="774"/>
                </a:xfrm>
                <a:custGeom>
                  <a:avLst/>
                  <a:gdLst>
                    <a:gd name="adj" fmla="val 16667"/>
                    <a:gd name="a" fmla="pin 0 adj 50000"/>
                    <a:gd name="x1" fmla="*/ ss a 100000"/>
                    <a:gd name="x2" fmla="+- r 0 x1"/>
                    <a:gd name="y2" fmla="+- b 0 x1"/>
                    <a:gd name="il" fmla="*/ x1 29289 100000"/>
                    <a:gd name="ir" fmla="+- r 0 il"/>
                    <a:gd name="ib" fmla="+- b 0 il"/>
                  </a:gdLst>
                  <a:ahLst/>
                  <a:cxnLst>
                    <a:cxn ang="3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2197" h="774">
                      <a:moveTo>
                        <a:pt x="39" y="0"/>
                      </a:moveTo>
                      <a:lnTo>
                        <a:pt x="2197" y="516"/>
                      </a:lnTo>
                      <a:lnTo>
                        <a:pt x="1119" y="774"/>
                      </a:lnTo>
                      <a:lnTo>
                        <a:pt x="136" y="774"/>
                      </a:lnTo>
                      <a:cubicBezTo>
                        <a:pt x="61" y="774"/>
                        <a:pt x="0" y="713"/>
                        <a:pt x="0" y="638"/>
                      </a:cubicBezTo>
                      <a:lnTo>
                        <a:pt x="0" y="95"/>
                      </a:lnTo>
                      <a:cubicBezTo>
                        <a:pt x="0" y="62"/>
                        <a:pt x="12" y="32"/>
                        <a:pt x="31" y="8"/>
                      </a:cubicBezTo>
                      <a:lnTo>
                        <a:pt x="39" y="0"/>
                      </a:lnTo>
                      <a:close/>
                    </a:path>
                  </a:pathLst>
                </a:cu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altLang="zh-CN" sz="90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124" name="文本框 123"/>
              <p:cNvSpPr txBox="1"/>
              <p:nvPr/>
            </p:nvSpPr>
            <p:spPr>
              <a:xfrm>
                <a:off x="14643" y="911"/>
                <a:ext cx="2251" cy="3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sz="900"/>
                  <a:t>SpatialFreqDecomposer</a:t>
                </a:r>
                <a:endParaRPr lang="en-US" sz="900"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  <a:sym typeface="+mn-ea"/>
                </a:endParaRPr>
              </a:p>
            </p:txBody>
          </p:sp>
          <p:sp>
            <p:nvSpPr>
              <p:cNvPr id="125" name="文本框 124"/>
              <p:cNvSpPr txBox="1"/>
              <p:nvPr/>
            </p:nvSpPr>
            <p:spPr>
              <a:xfrm>
                <a:off x="13439" y="1273"/>
                <a:ext cx="1474" cy="3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sz="900"/>
                  <a:t>x</a:t>
                </a:r>
                <a:r>
                  <a:rPr lang="en-US" sz="900" baseline="-25000"/>
                  <a:t>lf</a:t>
                </a:r>
                <a:r>
                  <a:rPr lang="en-US" sz="900"/>
                  <a:t>=GaussLP(x)</a:t>
                </a:r>
                <a:endParaRPr lang="en-US" sz="900"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  <a:sym typeface="+mn-ea"/>
                </a:endParaRPr>
              </a:p>
            </p:txBody>
          </p:sp>
          <p:sp>
            <p:nvSpPr>
              <p:cNvPr id="126" name="文本框 125"/>
              <p:cNvSpPr txBox="1"/>
              <p:nvPr/>
            </p:nvSpPr>
            <p:spPr>
              <a:xfrm>
                <a:off x="17052" y="1273"/>
                <a:ext cx="945" cy="3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sz="900"/>
                  <a:t>x</a:t>
                </a:r>
                <a:r>
                  <a:rPr lang="en-US" sz="900" baseline="-25000"/>
                  <a:t>hf</a:t>
                </a:r>
                <a:r>
                  <a:rPr lang="en-US" sz="900"/>
                  <a:t>=x-</a:t>
                </a:r>
                <a:r>
                  <a:rPr lang="en-US" sz="900">
                    <a:sym typeface="+mn-ea"/>
                  </a:rPr>
                  <a:t>x</a:t>
                </a:r>
                <a:r>
                  <a:rPr lang="en-US" sz="900" baseline="-25000">
                    <a:sym typeface="+mn-ea"/>
                  </a:rPr>
                  <a:t>lf</a:t>
                </a:r>
                <a:endParaRPr lang="en-US" sz="900"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  <a:sym typeface="+mn-ea"/>
                </a:endParaRPr>
              </a:p>
            </p:txBody>
          </p:sp>
        </p:grpSp>
        <p:cxnSp>
          <p:nvCxnSpPr>
            <p:cNvPr id="128" name="直接箭头连接符 127"/>
            <p:cNvCxnSpPr/>
            <p:nvPr/>
          </p:nvCxnSpPr>
          <p:spPr>
            <a:xfrm>
              <a:off x="14642" y="2113"/>
              <a:ext cx="1" cy="212"/>
            </a:xfrm>
            <a:prstGeom prst="straightConnector1">
              <a:avLst/>
            </a:prstGeom>
            <a:ln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9" name="直接箭头连接符 128"/>
            <p:cNvCxnSpPr/>
            <p:nvPr/>
          </p:nvCxnSpPr>
          <p:spPr>
            <a:xfrm>
              <a:off x="17051" y="2118"/>
              <a:ext cx="1" cy="212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31" name="任意多边形 130"/>
            <p:cNvSpPr/>
            <p:nvPr/>
          </p:nvSpPr>
          <p:spPr>
            <a:xfrm>
              <a:off x="13573" y="5234"/>
              <a:ext cx="2181" cy="620"/>
            </a:xfrm>
            <a:custGeom>
              <a:avLst/>
              <a:gdLst>
                <a:gd name="connisteX0" fmla="*/ 25400 w 1206500"/>
                <a:gd name="connsiteY0" fmla="*/ 50800 h 393700"/>
                <a:gd name="connisteX1" fmla="*/ 44450 w 1206500"/>
                <a:gd name="connsiteY1" fmla="*/ 107950 h 393700"/>
                <a:gd name="connisteX2" fmla="*/ 6350 w 1206500"/>
                <a:gd name="connsiteY2" fmla="*/ 184150 h 393700"/>
                <a:gd name="connisteX3" fmla="*/ 31750 w 1206500"/>
                <a:gd name="connsiteY3" fmla="*/ 234950 h 393700"/>
                <a:gd name="connisteX4" fmla="*/ 0 w 1206500"/>
                <a:gd name="connsiteY4" fmla="*/ 311150 h 393700"/>
                <a:gd name="connisteX5" fmla="*/ 31750 w 1206500"/>
                <a:gd name="connsiteY5" fmla="*/ 374650 h 393700"/>
                <a:gd name="connisteX6" fmla="*/ 88900 w 1206500"/>
                <a:gd name="connsiteY6" fmla="*/ 349250 h 393700"/>
                <a:gd name="connisteX7" fmla="*/ 146050 w 1206500"/>
                <a:gd name="connsiteY7" fmla="*/ 387350 h 393700"/>
                <a:gd name="connisteX8" fmla="*/ 228600 w 1206500"/>
                <a:gd name="connsiteY8" fmla="*/ 342900 h 393700"/>
                <a:gd name="connisteX9" fmla="*/ 304800 w 1206500"/>
                <a:gd name="connsiteY9" fmla="*/ 393700 h 393700"/>
                <a:gd name="connisteX10" fmla="*/ 381000 w 1206500"/>
                <a:gd name="connsiteY10" fmla="*/ 355600 h 393700"/>
                <a:gd name="connisteX11" fmla="*/ 463550 w 1206500"/>
                <a:gd name="connsiteY11" fmla="*/ 387350 h 393700"/>
                <a:gd name="connisteX12" fmla="*/ 527050 w 1206500"/>
                <a:gd name="connsiteY12" fmla="*/ 342900 h 393700"/>
                <a:gd name="connisteX13" fmla="*/ 635000 w 1206500"/>
                <a:gd name="connsiteY13" fmla="*/ 393700 h 393700"/>
                <a:gd name="connisteX14" fmla="*/ 692150 w 1206500"/>
                <a:gd name="connsiteY14" fmla="*/ 355600 h 393700"/>
                <a:gd name="connisteX15" fmla="*/ 787400 w 1206500"/>
                <a:gd name="connsiteY15" fmla="*/ 381000 h 393700"/>
                <a:gd name="connisteX16" fmla="*/ 857250 w 1206500"/>
                <a:gd name="connsiteY16" fmla="*/ 355600 h 393700"/>
                <a:gd name="connisteX17" fmla="*/ 927100 w 1206500"/>
                <a:gd name="connsiteY17" fmla="*/ 393700 h 393700"/>
                <a:gd name="connisteX18" fmla="*/ 1003300 w 1206500"/>
                <a:gd name="connsiteY18" fmla="*/ 349250 h 393700"/>
                <a:gd name="connisteX19" fmla="*/ 1079500 w 1206500"/>
                <a:gd name="connsiteY19" fmla="*/ 393700 h 393700"/>
                <a:gd name="connisteX20" fmla="*/ 1123950 w 1206500"/>
                <a:gd name="connsiteY20" fmla="*/ 349250 h 393700"/>
                <a:gd name="connisteX21" fmla="*/ 1193800 w 1206500"/>
                <a:gd name="connsiteY21" fmla="*/ 349250 h 393700"/>
                <a:gd name="connisteX22" fmla="*/ 1162050 w 1206500"/>
                <a:gd name="connsiteY22" fmla="*/ 298450 h 393700"/>
                <a:gd name="connisteX23" fmla="*/ 1206500 w 1206500"/>
                <a:gd name="connsiteY23" fmla="*/ 209550 h 393700"/>
                <a:gd name="connisteX24" fmla="*/ 1162050 w 1206500"/>
                <a:gd name="connsiteY24" fmla="*/ 133350 h 393700"/>
                <a:gd name="connisteX25" fmla="*/ 1206500 w 1206500"/>
                <a:gd name="connsiteY25" fmla="*/ 50800 h 393700"/>
                <a:gd name="connisteX26" fmla="*/ 1123950 w 1206500"/>
                <a:gd name="connsiteY26" fmla="*/ 19050 h 393700"/>
                <a:gd name="connisteX27" fmla="*/ 1073150 w 1206500"/>
                <a:gd name="connsiteY27" fmla="*/ 38100 h 393700"/>
                <a:gd name="connisteX28" fmla="*/ 1016000 w 1206500"/>
                <a:gd name="connsiteY28" fmla="*/ 6350 h 393700"/>
                <a:gd name="connisteX29" fmla="*/ 939800 w 1206500"/>
                <a:gd name="connsiteY29" fmla="*/ 57150 h 393700"/>
                <a:gd name="connisteX30" fmla="*/ 863600 w 1206500"/>
                <a:gd name="connsiteY30" fmla="*/ 19050 h 393700"/>
                <a:gd name="connisteX31" fmla="*/ 787400 w 1206500"/>
                <a:gd name="connsiteY31" fmla="*/ 50800 h 393700"/>
                <a:gd name="connisteX32" fmla="*/ 685800 w 1206500"/>
                <a:gd name="connsiteY32" fmla="*/ 12700 h 393700"/>
                <a:gd name="connisteX33" fmla="*/ 609600 w 1206500"/>
                <a:gd name="connsiteY33" fmla="*/ 57150 h 393700"/>
                <a:gd name="connisteX34" fmla="*/ 527050 w 1206500"/>
                <a:gd name="connsiteY34" fmla="*/ 25400 h 393700"/>
                <a:gd name="connisteX35" fmla="*/ 463550 w 1206500"/>
                <a:gd name="connsiteY35" fmla="*/ 38100 h 393700"/>
                <a:gd name="connisteX36" fmla="*/ 381000 w 1206500"/>
                <a:gd name="connsiteY36" fmla="*/ 6350 h 393700"/>
                <a:gd name="connisteX37" fmla="*/ 317500 w 1206500"/>
                <a:gd name="connsiteY37" fmla="*/ 50800 h 393700"/>
                <a:gd name="connisteX38" fmla="*/ 254000 w 1206500"/>
                <a:gd name="connsiteY38" fmla="*/ 19050 h 393700"/>
                <a:gd name="connisteX39" fmla="*/ 165100 w 1206500"/>
                <a:gd name="connsiteY39" fmla="*/ 57150 h 393700"/>
                <a:gd name="connisteX40" fmla="*/ 82550 w 1206500"/>
                <a:gd name="connsiteY40" fmla="*/ 0 h 393700"/>
                <a:gd name="connisteX41" fmla="*/ 25400 w 1206500"/>
                <a:gd name="connsiteY41" fmla="*/ 50800 h 39370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  <a:cxn ang="0">
                  <a:pos x="connisteX7" y="connsiteY7"/>
                </a:cxn>
                <a:cxn ang="0">
                  <a:pos x="connisteX8" y="connsiteY8"/>
                </a:cxn>
                <a:cxn ang="0">
                  <a:pos x="connisteX9" y="connsiteY9"/>
                </a:cxn>
                <a:cxn ang="0">
                  <a:pos x="connisteX10" y="connsiteY10"/>
                </a:cxn>
                <a:cxn ang="0">
                  <a:pos x="connisteX11" y="connsiteY11"/>
                </a:cxn>
                <a:cxn ang="0">
                  <a:pos x="connisteX12" y="connsiteY12"/>
                </a:cxn>
                <a:cxn ang="0">
                  <a:pos x="connisteX13" y="connsiteY13"/>
                </a:cxn>
                <a:cxn ang="0">
                  <a:pos x="connisteX14" y="connsiteY14"/>
                </a:cxn>
                <a:cxn ang="0">
                  <a:pos x="connisteX15" y="connsiteY15"/>
                </a:cxn>
                <a:cxn ang="0">
                  <a:pos x="connisteX16" y="connsiteY16"/>
                </a:cxn>
                <a:cxn ang="0">
                  <a:pos x="connisteX17" y="connsiteY17"/>
                </a:cxn>
                <a:cxn ang="0">
                  <a:pos x="connisteX18" y="connsiteY18"/>
                </a:cxn>
                <a:cxn ang="0">
                  <a:pos x="connisteX19" y="connsiteY19"/>
                </a:cxn>
                <a:cxn ang="0">
                  <a:pos x="connisteX20" y="connsiteY20"/>
                </a:cxn>
                <a:cxn ang="0">
                  <a:pos x="connisteX21" y="connsiteY21"/>
                </a:cxn>
                <a:cxn ang="0">
                  <a:pos x="connisteX22" y="connsiteY22"/>
                </a:cxn>
                <a:cxn ang="0">
                  <a:pos x="connisteX23" y="connsiteY23"/>
                </a:cxn>
                <a:cxn ang="0">
                  <a:pos x="connisteX24" y="connsiteY24"/>
                </a:cxn>
                <a:cxn ang="0">
                  <a:pos x="connisteX25" y="connsiteY25"/>
                </a:cxn>
                <a:cxn ang="0">
                  <a:pos x="connisteX26" y="connsiteY26"/>
                </a:cxn>
                <a:cxn ang="0">
                  <a:pos x="connisteX27" y="connsiteY27"/>
                </a:cxn>
                <a:cxn ang="0">
                  <a:pos x="connisteX28" y="connsiteY28"/>
                </a:cxn>
                <a:cxn ang="0">
                  <a:pos x="connisteX29" y="connsiteY29"/>
                </a:cxn>
                <a:cxn ang="0">
                  <a:pos x="connisteX30" y="connsiteY30"/>
                </a:cxn>
                <a:cxn ang="0">
                  <a:pos x="connisteX31" y="connsiteY31"/>
                </a:cxn>
                <a:cxn ang="0">
                  <a:pos x="connisteX32" y="connsiteY32"/>
                </a:cxn>
                <a:cxn ang="0">
                  <a:pos x="connisteX33" y="connsiteY33"/>
                </a:cxn>
                <a:cxn ang="0">
                  <a:pos x="connisteX34" y="connsiteY34"/>
                </a:cxn>
                <a:cxn ang="0">
                  <a:pos x="connisteX35" y="connsiteY35"/>
                </a:cxn>
                <a:cxn ang="0">
                  <a:pos x="connisteX36" y="connsiteY36"/>
                </a:cxn>
                <a:cxn ang="0">
                  <a:pos x="connisteX37" y="connsiteY37"/>
                </a:cxn>
                <a:cxn ang="0">
                  <a:pos x="connisteX38" y="connsiteY38"/>
                </a:cxn>
                <a:cxn ang="0">
                  <a:pos x="connisteX39" y="connsiteY39"/>
                </a:cxn>
                <a:cxn ang="0">
                  <a:pos x="connisteX40" y="connsiteY40"/>
                </a:cxn>
                <a:cxn ang="0">
                  <a:pos x="connisteX41" y="connsiteY41"/>
                </a:cxn>
              </a:cxnLst>
              <a:rect l="l" t="t" r="r" b="b"/>
              <a:pathLst>
                <a:path w="1206500" h="393700">
                  <a:moveTo>
                    <a:pt x="25400" y="50800"/>
                  </a:moveTo>
                  <a:lnTo>
                    <a:pt x="44450" y="107950"/>
                  </a:lnTo>
                  <a:lnTo>
                    <a:pt x="6350" y="184150"/>
                  </a:lnTo>
                  <a:lnTo>
                    <a:pt x="31750" y="234950"/>
                  </a:lnTo>
                  <a:lnTo>
                    <a:pt x="0" y="311150"/>
                  </a:lnTo>
                  <a:lnTo>
                    <a:pt x="31750" y="374650"/>
                  </a:lnTo>
                  <a:lnTo>
                    <a:pt x="88900" y="349250"/>
                  </a:lnTo>
                  <a:lnTo>
                    <a:pt x="146050" y="387350"/>
                  </a:lnTo>
                  <a:lnTo>
                    <a:pt x="228600" y="342900"/>
                  </a:lnTo>
                  <a:lnTo>
                    <a:pt x="304800" y="393700"/>
                  </a:lnTo>
                  <a:lnTo>
                    <a:pt x="381000" y="355600"/>
                  </a:lnTo>
                  <a:lnTo>
                    <a:pt x="463550" y="387350"/>
                  </a:lnTo>
                  <a:lnTo>
                    <a:pt x="527050" y="342900"/>
                  </a:lnTo>
                  <a:lnTo>
                    <a:pt x="635000" y="393700"/>
                  </a:lnTo>
                  <a:lnTo>
                    <a:pt x="692150" y="355600"/>
                  </a:lnTo>
                  <a:lnTo>
                    <a:pt x="787400" y="381000"/>
                  </a:lnTo>
                  <a:lnTo>
                    <a:pt x="857250" y="355600"/>
                  </a:lnTo>
                  <a:lnTo>
                    <a:pt x="927100" y="393700"/>
                  </a:lnTo>
                  <a:lnTo>
                    <a:pt x="1003300" y="349250"/>
                  </a:lnTo>
                  <a:lnTo>
                    <a:pt x="1079500" y="393700"/>
                  </a:lnTo>
                  <a:lnTo>
                    <a:pt x="1123950" y="349250"/>
                  </a:lnTo>
                  <a:lnTo>
                    <a:pt x="1193800" y="349250"/>
                  </a:lnTo>
                  <a:lnTo>
                    <a:pt x="1162050" y="298450"/>
                  </a:lnTo>
                  <a:lnTo>
                    <a:pt x="1206500" y="209550"/>
                  </a:lnTo>
                  <a:lnTo>
                    <a:pt x="1162050" y="133350"/>
                  </a:lnTo>
                  <a:lnTo>
                    <a:pt x="1206500" y="50800"/>
                  </a:lnTo>
                  <a:lnTo>
                    <a:pt x="1123950" y="19050"/>
                  </a:lnTo>
                  <a:lnTo>
                    <a:pt x="1073150" y="38100"/>
                  </a:lnTo>
                  <a:lnTo>
                    <a:pt x="1016000" y="6350"/>
                  </a:lnTo>
                  <a:lnTo>
                    <a:pt x="939800" y="57150"/>
                  </a:lnTo>
                  <a:lnTo>
                    <a:pt x="863600" y="19050"/>
                  </a:lnTo>
                  <a:lnTo>
                    <a:pt x="787400" y="50800"/>
                  </a:lnTo>
                  <a:lnTo>
                    <a:pt x="685800" y="12700"/>
                  </a:lnTo>
                  <a:lnTo>
                    <a:pt x="609600" y="57150"/>
                  </a:lnTo>
                  <a:lnTo>
                    <a:pt x="527050" y="25400"/>
                  </a:lnTo>
                  <a:lnTo>
                    <a:pt x="463550" y="38100"/>
                  </a:lnTo>
                  <a:lnTo>
                    <a:pt x="381000" y="6350"/>
                  </a:lnTo>
                  <a:lnTo>
                    <a:pt x="317500" y="50800"/>
                  </a:lnTo>
                  <a:lnTo>
                    <a:pt x="254000" y="19050"/>
                  </a:lnTo>
                  <a:lnTo>
                    <a:pt x="165100" y="57150"/>
                  </a:lnTo>
                  <a:lnTo>
                    <a:pt x="82550" y="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D0DBEF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000">
                  <a:solidFill>
                    <a:schemeClr val="accent1">
                      <a:lumMod val="50000"/>
                    </a:schemeClr>
                  </a:solidFill>
                </a:rPr>
                <a:t>GaussSmooth</a:t>
              </a:r>
              <a:endParaRPr lang="en-US" altLang="zh-CN" sz="1000">
                <a:solidFill>
                  <a:schemeClr val="accent1">
                    <a:lumMod val="50000"/>
                  </a:schemeClr>
                </a:solidFill>
              </a:endParaRPr>
            </a:p>
            <a:p>
              <a:pPr algn="ctr"/>
              <a:r>
                <a:rPr lang="en-US" altLang="zh-CN" sz="1000">
                  <a:solidFill>
                    <a:schemeClr val="accent1">
                      <a:lumMod val="50000"/>
                    </a:schemeClr>
                  </a:solidFill>
                </a:rPr>
                <a:t>(</a:t>
              </a:r>
              <a:r>
                <a:rPr lang="zh-CN" altLang="en-US" sz="1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  <a:sym typeface="+mn-ea"/>
                </a:rPr>
                <a:t>σ</a:t>
              </a:r>
              <a:r>
                <a:rPr lang="en-US" altLang="zh-CN" sz="1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  <a:sym typeface="+mn-ea"/>
                </a:rPr>
                <a:t>=1.8)</a:t>
              </a:r>
              <a:endParaRPr lang="en-US" altLang="zh-CN" sz="1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endParaRPr>
            </a:p>
          </p:txBody>
        </p:sp>
        <p:sp>
          <p:nvSpPr>
            <p:cNvPr id="132" name="圆角矩形 131"/>
            <p:cNvSpPr/>
            <p:nvPr/>
          </p:nvSpPr>
          <p:spPr>
            <a:xfrm>
              <a:off x="15945" y="5234"/>
              <a:ext cx="2223" cy="537"/>
            </a:xfrm>
            <a:prstGeom prst="roundRect">
              <a:avLst/>
            </a:prstGeom>
            <a:solidFill>
              <a:srgbClr val="D0D0D0"/>
            </a:solidFill>
            <a:ln w="12700" cmpd="sng">
              <a:solidFill>
                <a:schemeClr val="accent4">
                  <a:lumMod val="50000"/>
                </a:schemeClr>
              </a:solidFill>
              <a:prstDash val="sys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900">
                  <a:solidFill>
                    <a:schemeClr val="tx1"/>
                  </a:solidFill>
                  <a:sym typeface="+mn-ea"/>
                </a:rPr>
                <a:t>“x No Smoothing”</a:t>
              </a:r>
              <a:endParaRPr lang="en-US" altLang="zh-CN" sz="900">
                <a:solidFill>
                  <a:schemeClr val="tx1"/>
                </a:solidFill>
                <a:sym typeface="+mn-ea"/>
              </a:endParaRPr>
            </a:p>
          </p:txBody>
        </p:sp>
        <p:cxnSp>
          <p:nvCxnSpPr>
            <p:cNvPr id="133" name="直接箭头连接符 132"/>
            <p:cNvCxnSpPr>
              <a:stCxn id="104" idx="2"/>
              <a:endCxn id="132" idx="0"/>
            </p:cNvCxnSpPr>
            <p:nvPr/>
          </p:nvCxnSpPr>
          <p:spPr>
            <a:xfrm flipH="1">
              <a:off x="17057" y="5009"/>
              <a:ext cx="1" cy="22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34" name="文本框 133"/>
            <p:cNvSpPr txBox="1"/>
            <p:nvPr/>
          </p:nvSpPr>
          <p:spPr>
            <a:xfrm>
              <a:off x="13757" y="5964"/>
              <a:ext cx="1451" cy="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900"/>
                <a:t>y</a:t>
              </a:r>
              <a:r>
                <a:rPr lang="en-US" sz="900" baseline="-25000">
                  <a:sym typeface="+mn-ea"/>
                </a:rPr>
                <a:t>lf</a:t>
              </a:r>
              <a:r>
                <a:rPr lang="en-US" sz="900">
                  <a:sym typeface="+mn-ea"/>
                </a:rPr>
                <a:t>=x</a:t>
              </a:r>
              <a:r>
                <a:rPr lang="en-US" sz="900" baseline="-25000">
                  <a:sym typeface="+mn-ea"/>
                </a:rPr>
                <a:t>lf+</a:t>
              </a:r>
              <a:r>
                <a:rPr lang="en-US" sz="900" i="1">
                  <a:sym typeface="+mn-ea"/>
                </a:rPr>
                <a:t>F</a:t>
              </a:r>
              <a:r>
                <a:rPr lang="en-US" sz="900" baseline="-25000">
                  <a:sym typeface="+mn-ea"/>
                </a:rPr>
                <a:t>net</a:t>
              </a:r>
              <a:r>
                <a:rPr lang="en-US" sz="900">
                  <a:sym typeface="+mn-ea"/>
                </a:rPr>
                <a:t>(</a:t>
              </a:r>
              <a:r>
                <a:rPr lang="en-US" sz="900">
                  <a:sym typeface="+mn-ea"/>
                </a:rPr>
                <a:t>x</a:t>
              </a:r>
              <a:r>
                <a:rPr lang="en-US" sz="900" baseline="-25000">
                  <a:sym typeface="+mn-ea"/>
                </a:rPr>
                <a:t>hf</a:t>
              </a:r>
              <a:r>
                <a:rPr lang="en-US" sz="900">
                  <a:sym typeface="+mn-ea"/>
                </a:rPr>
                <a:t>)</a:t>
              </a:r>
              <a:endParaRPr lang="en-US" sz="900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endParaRPr>
            </a:p>
          </p:txBody>
        </p:sp>
        <p:cxnSp>
          <p:nvCxnSpPr>
            <p:cNvPr id="135" name="直接箭头连接符 134"/>
            <p:cNvCxnSpPr>
              <a:stCxn id="93" idx="2"/>
            </p:cNvCxnSpPr>
            <p:nvPr/>
          </p:nvCxnSpPr>
          <p:spPr>
            <a:xfrm>
              <a:off x="14644" y="5009"/>
              <a:ext cx="7" cy="28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36" name="文本框 135"/>
            <p:cNvSpPr txBox="1"/>
            <p:nvPr/>
          </p:nvSpPr>
          <p:spPr>
            <a:xfrm>
              <a:off x="14128" y="6179"/>
              <a:ext cx="673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1000" i="1">
                  <a:sym typeface="+mn-ea"/>
                </a:rPr>
                <a:t>F</a:t>
              </a:r>
              <a:r>
                <a:rPr lang="en-US" sz="1000" baseline="-25000">
                  <a:sym typeface="+mn-ea"/>
                </a:rPr>
                <a:t>net</a:t>
              </a:r>
              <a:endParaRPr lang="en-US" sz="1000" baseline="-25000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endParaRPr>
            </a:p>
          </p:txBody>
        </p:sp>
        <p:sp>
          <p:nvSpPr>
            <p:cNvPr id="137" name="文本框 136"/>
            <p:cNvSpPr txBox="1"/>
            <p:nvPr/>
          </p:nvSpPr>
          <p:spPr>
            <a:xfrm>
              <a:off x="13756" y="6453"/>
              <a:ext cx="151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900">
                  <a:sym typeface="+mn-ea"/>
                </a:rPr>
                <a:t>1*1Conv→BN→1*1 Conv</a:t>
              </a:r>
              <a:endParaRPr lang="en-US" sz="900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endParaRPr>
            </a:p>
          </p:txBody>
        </p:sp>
        <p:sp>
          <p:nvSpPr>
            <p:cNvPr id="139" name="文本框 138"/>
            <p:cNvSpPr txBox="1"/>
            <p:nvPr/>
          </p:nvSpPr>
          <p:spPr>
            <a:xfrm>
              <a:off x="16509" y="5967"/>
              <a:ext cx="1451" cy="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900"/>
                <a:t>y</a:t>
              </a:r>
              <a:r>
                <a:rPr lang="en-US" sz="900" baseline="-25000">
                  <a:sym typeface="+mn-ea"/>
                </a:rPr>
                <a:t>h</a:t>
              </a:r>
              <a:r>
                <a:rPr lang="en-US" sz="900" baseline="-25000">
                  <a:sym typeface="+mn-ea"/>
                </a:rPr>
                <a:t>f</a:t>
              </a:r>
              <a:r>
                <a:rPr lang="en-US" sz="900">
                  <a:sym typeface="+mn-ea"/>
                </a:rPr>
                <a:t>=x</a:t>
              </a:r>
              <a:r>
                <a:rPr lang="en-US" sz="900" baseline="-25000">
                  <a:sym typeface="+mn-ea"/>
                </a:rPr>
                <a:t>h</a:t>
              </a:r>
              <a:r>
                <a:rPr lang="en-US" sz="900" baseline="-25000">
                  <a:sym typeface="+mn-ea"/>
                </a:rPr>
                <a:t>f+</a:t>
              </a:r>
              <a:r>
                <a:rPr lang="en-US" sz="900" i="1">
                  <a:sym typeface="+mn-ea"/>
                </a:rPr>
                <a:t>G</a:t>
              </a:r>
              <a:r>
                <a:rPr lang="en-US" sz="900" baseline="-25000">
                  <a:sym typeface="+mn-ea"/>
                </a:rPr>
                <a:t>net</a:t>
              </a:r>
              <a:r>
                <a:rPr lang="en-US" sz="900">
                  <a:sym typeface="+mn-ea"/>
                </a:rPr>
                <a:t>(y</a:t>
              </a:r>
              <a:r>
                <a:rPr lang="en-US" sz="900" baseline="-25000">
                  <a:sym typeface="+mn-ea"/>
                </a:rPr>
                <a:t>l</a:t>
              </a:r>
              <a:r>
                <a:rPr lang="en-US" sz="900" baseline="-25000">
                  <a:sym typeface="+mn-ea"/>
                </a:rPr>
                <a:t>f</a:t>
              </a:r>
              <a:r>
                <a:rPr lang="en-US" sz="900">
                  <a:sym typeface="+mn-ea"/>
                </a:rPr>
                <a:t>)</a:t>
              </a:r>
              <a:endParaRPr lang="en-US" sz="900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endParaRPr>
            </a:p>
          </p:txBody>
        </p:sp>
        <p:sp>
          <p:nvSpPr>
            <p:cNvPr id="140" name="文本框 139"/>
            <p:cNvSpPr txBox="1"/>
            <p:nvPr/>
          </p:nvSpPr>
          <p:spPr>
            <a:xfrm>
              <a:off x="16509" y="6452"/>
              <a:ext cx="1592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900">
                  <a:sym typeface="+mn-ea"/>
                </a:rPr>
                <a:t>1*1 Conv→BN</a:t>
              </a:r>
              <a:endParaRPr lang="en-US" sz="900">
                <a:sym typeface="+mn-ea"/>
              </a:endParaRPr>
            </a:p>
            <a:p>
              <a:pPr algn="ctr"/>
              <a:r>
                <a:rPr lang="en-US" sz="900">
                  <a:sym typeface="+mn-ea"/>
                </a:rPr>
                <a:t>→1*1 Conv</a:t>
              </a:r>
              <a:endParaRPr lang="en-US" sz="900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endParaRPr>
            </a:p>
          </p:txBody>
        </p:sp>
        <p:sp>
          <p:nvSpPr>
            <p:cNvPr id="141" name="圆角矩形 140"/>
            <p:cNvSpPr/>
            <p:nvPr/>
          </p:nvSpPr>
          <p:spPr>
            <a:xfrm>
              <a:off x="16566" y="6452"/>
              <a:ext cx="1533" cy="581"/>
            </a:xfrm>
            <a:prstGeom prst="roundRect">
              <a:avLst/>
            </a:prstGeom>
            <a:noFill/>
            <a:ln w="12700" cmpd="sng">
              <a:solidFill>
                <a:schemeClr val="accent3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n w="12700" cmpd="sng">
                  <a:noFill/>
                  <a:prstDash val="sysDash"/>
                </a:ln>
                <a:noFill/>
              </a:endParaRPr>
            </a:p>
          </p:txBody>
        </p:sp>
        <p:sp>
          <p:nvSpPr>
            <p:cNvPr id="142" name="文本框 141"/>
            <p:cNvSpPr txBox="1"/>
            <p:nvPr/>
          </p:nvSpPr>
          <p:spPr>
            <a:xfrm>
              <a:off x="16875" y="6180"/>
              <a:ext cx="673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1000" i="1">
                  <a:sym typeface="+mn-ea"/>
                </a:rPr>
                <a:t>G</a:t>
              </a:r>
              <a:r>
                <a:rPr lang="en-US" sz="1000" baseline="-25000">
                  <a:sym typeface="+mn-ea"/>
                </a:rPr>
                <a:t>net</a:t>
              </a:r>
              <a:endParaRPr lang="en-US" sz="1000" baseline="-25000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endParaRPr>
            </a:p>
          </p:txBody>
        </p:sp>
        <p:sp>
          <p:nvSpPr>
            <p:cNvPr id="143" name="文本框 142"/>
            <p:cNvSpPr txBox="1"/>
            <p:nvPr/>
          </p:nvSpPr>
          <p:spPr>
            <a:xfrm>
              <a:off x="16649" y="7033"/>
              <a:ext cx="1451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900"/>
                <a:t>Invertible</a:t>
              </a:r>
              <a:endParaRPr lang="en-US" sz="900"/>
            </a:p>
            <a:p>
              <a:pPr algn="ctr"/>
              <a:r>
                <a:rPr lang="en-US" sz="900"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  <a:sym typeface="+mn-ea"/>
                </a:rPr>
                <a:t>error~1e-6</a:t>
              </a:r>
              <a:endParaRPr lang="en-US" sz="900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endParaRPr>
            </a:p>
          </p:txBody>
        </p:sp>
        <p:sp>
          <p:nvSpPr>
            <p:cNvPr id="144" name="文本框 143"/>
            <p:cNvSpPr txBox="1"/>
            <p:nvPr/>
          </p:nvSpPr>
          <p:spPr>
            <a:xfrm>
              <a:off x="15388" y="7011"/>
              <a:ext cx="1007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1000"/>
                <a:t>y</a:t>
              </a:r>
              <a:r>
                <a:rPr lang="en-US" sz="1000" baseline="-25000">
                  <a:sym typeface="+mn-ea"/>
                </a:rPr>
                <a:t>lf </a:t>
              </a:r>
              <a:r>
                <a:rPr lang="zh-CN" altLang="en-US" sz="1000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⊕</a:t>
              </a:r>
              <a:r>
                <a:rPr lang="en-US" altLang="zh-CN" sz="1000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 </a:t>
              </a:r>
              <a:r>
                <a:rPr lang="en-US" sz="1000">
                  <a:sym typeface="+mn-ea"/>
                </a:rPr>
                <a:t>y</a:t>
              </a:r>
              <a:r>
                <a:rPr lang="en-US" sz="1000" baseline="-25000">
                  <a:sym typeface="+mn-ea"/>
                </a:rPr>
                <a:t>hf</a:t>
              </a:r>
              <a:endParaRPr lang="en-US" sz="1000" baseline="-25000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endParaRPr>
            </a:p>
          </p:txBody>
        </p:sp>
        <p:sp>
          <p:nvSpPr>
            <p:cNvPr id="145" name="文本框 144"/>
            <p:cNvSpPr txBox="1"/>
            <p:nvPr/>
          </p:nvSpPr>
          <p:spPr>
            <a:xfrm>
              <a:off x="15098" y="7441"/>
              <a:ext cx="1468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1000"/>
                <a:t>[B,C,T,H,W]</a:t>
              </a:r>
              <a:endParaRPr lang="en-US" sz="1000" baseline="-25000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endParaRPr>
            </a:p>
          </p:txBody>
        </p:sp>
        <p:sp>
          <p:nvSpPr>
            <p:cNvPr id="146" name="文本框 145"/>
            <p:cNvSpPr txBox="1"/>
            <p:nvPr/>
          </p:nvSpPr>
          <p:spPr>
            <a:xfrm>
              <a:off x="15176" y="6574"/>
              <a:ext cx="1451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900"/>
                <a:t>InvertibleEx-change Layer</a:t>
              </a:r>
              <a:endParaRPr lang="en-US" sz="900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endParaRPr>
            </a:p>
          </p:txBody>
        </p:sp>
        <p:sp>
          <p:nvSpPr>
            <p:cNvPr id="147" name="任意多边形 146"/>
            <p:cNvSpPr/>
            <p:nvPr/>
          </p:nvSpPr>
          <p:spPr>
            <a:xfrm>
              <a:off x="15515" y="6179"/>
              <a:ext cx="750" cy="404"/>
            </a:xfrm>
            <a:custGeom>
              <a:avLst/>
              <a:gdLst>
                <a:gd name="connisteX0" fmla="*/ 0 w 476250"/>
                <a:gd name="connsiteY0" fmla="*/ 0 h 256540"/>
                <a:gd name="connisteX1" fmla="*/ 109855 w 476250"/>
                <a:gd name="connsiteY1" fmla="*/ 0 h 256540"/>
                <a:gd name="connisteX2" fmla="*/ 366395 w 476250"/>
                <a:gd name="connsiteY2" fmla="*/ 256540 h 256540"/>
                <a:gd name="connisteX3" fmla="*/ 476250 w 476250"/>
                <a:gd name="connsiteY3" fmla="*/ 256540 h 2565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476250" h="256540">
                  <a:moveTo>
                    <a:pt x="0" y="0"/>
                  </a:moveTo>
                  <a:lnTo>
                    <a:pt x="109855" y="0"/>
                  </a:lnTo>
                  <a:lnTo>
                    <a:pt x="366395" y="256540"/>
                  </a:lnTo>
                  <a:lnTo>
                    <a:pt x="476250" y="256540"/>
                  </a:lnTo>
                </a:path>
              </a:pathLst>
            </a:custGeom>
            <a:noFill/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8" name="任意多边形 147"/>
            <p:cNvSpPr/>
            <p:nvPr/>
          </p:nvSpPr>
          <p:spPr>
            <a:xfrm flipV="1">
              <a:off x="15504" y="6179"/>
              <a:ext cx="750" cy="404"/>
            </a:xfrm>
            <a:custGeom>
              <a:avLst/>
              <a:gdLst>
                <a:gd name="connisteX0" fmla="*/ 0 w 476250"/>
                <a:gd name="connsiteY0" fmla="*/ 0 h 256540"/>
                <a:gd name="connisteX1" fmla="*/ 109855 w 476250"/>
                <a:gd name="connsiteY1" fmla="*/ 0 h 256540"/>
                <a:gd name="connisteX2" fmla="*/ 366395 w 476250"/>
                <a:gd name="connsiteY2" fmla="*/ 256540 h 256540"/>
                <a:gd name="connisteX3" fmla="*/ 476250 w 476250"/>
                <a:gd name="connsiteY3" fmla="*/ 256540 h 25654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</a:cxnLst>
              <a:rect l="l" t="t" r="r" b="b"/>
              <a:pathLst>
                <a:path w="476250" h="256540">
                  <a:moveTo>
                    <a:pt x="0" y="0"/>
                  </a:moveTo>
                  <a:lnTo>
                    <a:pt x="109855" y="0"/>
                  </a:lnTo>
                  <a:lnTo>
                    <a:pt x="366395" y="256540"/>
                  </a:lnTo>
                  <a:lnTo>
                    <a:pt x="476250" y="256540"/>
                  </a:lnTo>
                </a:path>
              </a:pathLst>
            </a:custGeom>
            <a:noFill/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149" name="直接箭头连接符 148"/>
            <p:cNvCxnSpPr>
              <a:stCxn id="131" idx="13"/>
              <a:endCxn id="151" idx="0"/>
            </p:cNvCxnSpPr>
            <p:nvPr/>
          </p:nvCxnSpPr>
          <p:spPr>
            <a:xfrm>
              <a:off x="14721" y="5854"/>
              <a:ext cx="1189" cy="18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50" name="直接箭头连接符 149"/>
            <p:cNvCxnSpPr>
              <a:stCxn id="132" idx="2"/>
              <a:endCxn id="151" idx="0"/>
            </p:cNvCxnSpPr>
            <p:nvPr/>
          </p:nvCxnSpPr>
          <p:spPr>
            <a:xfrm flipH="1">
              <a:off x="15910" y="5771"/>
              <a:ext cx="1147" cy="27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52" name="直接箭头连接符 151"/>
            <p:cNvCxnSpPr/>
            <p:nvPr/>
          </p:nvCxnSpPr>
          <p:spPr>
            <a:xfrm flipH="1">
              <a:off x="15909" y="7340"/>
              <a:ext cx="1" cy="22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154" name="圆角矩形 153"/>
          <p:cNvSpPr/>
          <p:nvPr/>
        </p:nvSpPr>
        <p:spPr>
          <a:xfrm>
            <a:off x="4739640" y="5452110"/>
            <a:ext cx="898525" cy="129540"/>
          </a:xfrm>
          <a:prstGeom prst="roundRect">
            <a:avLst/>
          </a:prstGeom>
          <a:solidFill>
            <a:srgbClr val="3C74A3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5" name="圆角矩形 154"/>
          <p:cNvSpPr/>
          <p:nvPr/>
        </p:nvSpPr>
        <p:spPr>
          <a:xfrm>
            <a:off x="5765165" y="5452110"/>
            <a:ext cx="898525" cy="129540"/>
          </a:xfrm>
          <a:prstGeom prst="roundRect">
            <a:avLst/>
          </a:prstGeom>
          <a:solidFill>
            <a:srgbClr val="C0631E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6" name="文本框 155"/>
          <p:cNvSpPr txBox="1"/>
          <p:nvPr/>
        </p:nvSpPr>
        <p:spPr>
          <a:xfrm>
            <a:off x="4943475" y="5176520"/>
            <a:ext cx="40513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1200">
                <a:sym typeface="+mn-ea"/>
              </a:rPr>
              <a:t>x</a:t>
            </a:r>
            <a:r>
              <a:rPr lang="en-US" sz="1200" baseline="-25000">
                <a:sym typeface="+mn-ea"/>
              </a:rPr>
              <a:t>lf</a:t>
            </a:r>
            <a:endParaRPr lang="en-US" sz="1200" baseline="-25000"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157" name="文本框 156"/>
          <p:cNvSpPr txBox="1"/>
          <p:nvPr/>
        </p:nvSpPr>
        <p:spPr>
          <a:xfrm>
            <a:off x="6036945" y="5176520"/>
            <a:ext cx="40513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1200">
                <a:sym typeface="+mn-ea"/>
              </a:rPr>
              <a:t>x</a:t>
            </a:r>
            <a:r>
              <a:rPr lang="en-US" sz="1200" baseline="-25000">
                <a:sym typeface="+mn-ea"/>
              </a:rPr>
              <a:t>h</a:t>
            </a:r>
            <a:r>
              <a:rPr lang="en-US" sz="1200" baseline="-25000">
                <a:sym typeface="+mn-ea"/>
              </a:rPr>
              <a:t>f</a:t>
            </a:r>
            <a:endParaRPr lang="en-US" sz="1200" baseline="-25000"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158" name="文本框 157"/>
          <p:cNvSpPr txBox="1"/>
          <p:nvPr/>
        </p:nvSpPr>
        <p:spPr>
          <a:xfrm>
            <a:off x="4949825" y="6388735"/>
            <a:ext cx="40513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1200">
                <a:sym typeface="+mn-ea"/>
              </a:rPr>
              <a:t>y</a:t>
            </a:r>
            <a:r>
              <a:rPr lang="en-US" sz="1200" baseline="-25000">
                <a:sym typeface="+mn-ea"/>
              </a:rPr>
              <a:t>lf</a:t>
            </a:r>
            <a:endParaRPr lang="en-US" sz="1200" baseline="-25000"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159" name="文本框 158"/>
          <p:cNvSpPr txBox="1"/>
          <p:nvPr/>
        </p:nvSpPr>
        <p:spPr>
          <a:xfrm>
            <a:off x="6043295" y="6388735"/>
            <a:ext cx="40513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1200">
                <a:sym typeface="+mn-ea"/>
              </a:rPr>
              <a:t>y</a:t>
            </a:r>
            <a:r>
              <a:rPr lang="en-US" sz="1200" baseline="-25000">
                <a:sym typeface="+mn-ea"/>
              </a:rPr>
              <a:t>h</a:t>
            </a:r>
            <a:r>
              <a:rPr lang="en-US" sz="1200" baseline="-25000">
                <a:sym typeface="+mn-ea"/>
              </a:rPr>
              <a:t>f</a:t>
            </a:r>
            <a:endParaRPr lang="en-US" sz="1200" baseline="-25000"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160" name="圆角矩形 159"/>
          <p:cNvSpPr/>
          <p:nvPr/>
        </p:nvSpPr>
        <p:spPr>
          <a:xfrm>
            <a:off x="5796915" y="6263640"/>
            <a:ext cx="898525" cy="129540"/>
          </a:xfrm>
          <a:prstGeom prst="roundRect">
            <a:avLst/>
          </a:prstGeom>
          <a:gradFill>
            <a:gsLst>
              <a:gs pos="0">
                <a:srgbClr val="BC621A"/>
              </a:gs>
              <a:gs pos="35000">
                <a:srgbClr val="C36A24">
                  <a:alpha val="100000"/>
                </a:srgbClr>
              </a:gs>
              <a:gs pos="31000">
                <a:srgbClr val="B15C18"/>
              </a:gs>
              <a:gs pos="100000">
                <a:srgbClr val="D4772F"/>
              </a:gs>
            </a:gsLst>
            <a:lin ang="0" scaled="0"/>
          </a:gra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3" name="圆角矩形 162"/>
          <p:cNvSpPr/>
          <p:nvPr/>
        </p:nvSpPr>
        <p:spPr>
          <a:xfrm>
            <a:off x="7692390" y="6228715"/>
            <a:ext cx="142875" cy="148590"/>
          </a:xfrm>
          <a:prstGeom prst="roundRect">
            <a:avLst/>
          </a:prstGeom>
          <a:solidFill>
            <a:srgbClr val="B8C7AA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64" name="圆角矩形 163"/>
          <p:cNvSpPr/>
          <p:nvPr/>
        </p:nvSpPr>
        <p:spPr>
          <a:xfrm>
            <a:off x="7692390" y="6080125"/>
            <a:ext cx="142875" cy="148590"/>
          </a:xfrm>
          <a:prstGeom prst="roundRect">
            <a:avLst/>
          </a:prstGeom>
          <a:solidFill>
            <a:srgbClr val="B8C7AA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65" name="圆角矩形 164"/>
          <p:cNvSpPr/>
          <p:nvPr/>
        </p:nvSpPr>
        <p:spPr>
          <a:xfrm>
            <a:off x="7692390" y="5931535"/>
            <a:ext cx="142875" cy="148590"/>
          </a:xfrm>
          <a:prstGeom prst="roundRect">
            <a:avLst/>
          </a:prstGeom>
          <a:solidFill>
            <a:srgbClr val="B8C7AA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66" name="圆角矩形 165"/>
          <p:cNvSpPr/>
          <p:nvPr/>
        </p:nvSpPr>
        <p:spPr>
          <a:xfrm>
            <a:off x="7692390" y="5782945"/>
            <a:ext cx="142875" cy="148590"/>
          </a:xfrm>
          <a:prstGeom prst="roundRect">
            <a:avLst/>
          </a:prstGeom>
          <a:solidFill>
            <a:srgbClr val="B8C7AA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67" name="圆角矩形 166"/>
          <p:cNvSpPr/>
          <p:nvPr/>
        </p:nvSpPr>
        <p:spPr>
          <a:xfrm>
            <a:off x="7692390" y="5634355"/>
            <a:ext cx="142875" cy="148590"/>
          </a:xfrm>
          <a:prstGeom prst="roundRect">
            <a:avLst/>
          </a:prstGeom>
          <a:solidFill>
            <a:srgbClr val="B8C7AA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68" name="圆角矩形 167"/>
          <p:cNvSpPr/>
          <p:nvPr/>
        </p:nvSpPr>
        <p:spPr>
          <a:xfrm>
            <a:off x="7692390" y="5485765"/>
            <a:ext cx="142875" cy="148590"/>
          </a:xfrm>
          <a:prstGeom prst="roundRect">
            <a:avLst/>
          </a:prstGeom>
          <a:solidFill>
            <a:srgbClr val="B8C7AA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69" name="圆角矩形 168"/>
          <p:cNvSpPr/>
          <p:nvPr/>
        </p:nvSpPr>
        <p:spPr>
          <a:xfrm>
            <a:off x="7692390" y="5337175"/>
            <a:ext cx="142875" cy="148590"/>
          </a:xfrm>
          <a:prstGeom prst="roundRect">
            <a:avLst/>
          </a:prstGeom>
          <a:solidFill>
            <a:srgbClr val="B8C7AA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725025" y="5517515"/>
            <a:ext cx="142240" cy="594360"/>
            <a:chOff x="15428" y="8718"/>
            <a:chExt cx="224" cy="936"/>
          </a:xfrm>
        </p:grpSpPr>
        <p:sp>
          <p:nvSpPr>
            <p:cNvPr id="170" name="圆角矩形 169"/>
            <p:cNvSpPr/>
            <p:nvPr/>
          </p:nvSpPr>
          <p:spPr>
            <a:xfrm>
              <a:off x="15428" y="8718"/>
              <a:ext cx="225" cy="234"/>
            </a:xfrm>
            <a:prstGeom prst="roundRect">
              <a:avLst/>
            </a:prstGeom>
            <a:solidFill>
              <a:srgbClr val="ACBC9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71" name="圆角矩形 170"/>
            <p:cNvSpPr/>
            <p:nvPr/>
          </p:nvSpPr>
          <p:spPr>
            <a:xfrm>
              <a:off x="15428" y="8952"/>
              <a:ext cx="225" cy="234"/>
            </a:xfrm>
            <a:prstGeom prst="roundRect">
              <a:avLst/>
            </a:prstGeom>
            <a:solidFill>
              <a:srgbClr val="ACBC9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72" name="圆角矩形 171"/>
            <p:cNvSpPr/>
            <p:nvPr/>
          </p:nvSpPr>
          <p:spPr>
            <a:xfrm>
              <a:off x="15428" y="9186"/>
              <a:ext cx="225" cy="234"/>
            </a:xfrm>
            <a:prstGeom prst="roundRect">
              <a:avLst/>
            </a:prstGeom>
            <a:solidFill>
              <a:srgbClr val="ACBC9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73" name="圆角矩形 172"/>
            <p:cNvSpPr/>
            <p:nvPr/>
          </p:nvSpPr>
          <p:spPr>
            <a:xfrm>
              <a:off x="15428" y="9420"/>
              <a:ext cx="225" cy="234"/>
            </a:xfrm>
            <a:prstGeom prst="roundRect">
              <a:avLst/>
            </a:prstGeom>
            <a:solidFill>
              <a:srgbClr val="ACBC9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10049510" y="5596255"/>
            <a:ext cx="142240" cy="445770"/>
            <a:chOff x="17070" y="8317"/>
            <a:chExt cx="224" cy="702"/>
          </a:xfrm>
        </p:grpSpPr>
        <p:sp>
          <p:nvSpPr>
            <p:cNvPr id="20" name="圆角矩形 19"/>
            <p:cNvSpPr/>
            <p:nvPr/>
          </p:nvSpPr>
          <p:spPr>
            <a:xfrm>
              <a:off x="17070" y="8317"/>
              <a:ext cx="225" cy="234"/>
            </a:xfrm>
            <a:prstGeom prst="roundRect">
              <a:avLst/>
            </a:prstGeom>
            <a:solidFill>
              <a:srgbClr val="F8EBB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3" name="圆角矩形 32"/>
            <p:cNvSpPr/>
            <p:nvPr/>
          </p:nvSpPr>
          <p:spPr>
            <a:xfrm>
              <a:off x="17070" y="8551"/>
              <a:ext cx="225" cy="234"/>
            </a:xfrm>
            <a:prstGeom prst="roundRect">
              <a:avLst/>
            </a:prstGeom>
            <a:solidFill>
              <a:srgbClr val="F8EBB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olidFill>
                  <a:schemeClr val="tx1"/>
                </a:solidFill>
                <a:sym typeface="+mn-ea"/>
              </a:endParaRPr>
            </a:p>
          </p:txBody>
        </p:sp>
        <p:sp>
          <p:nvSpPr>
            <p:cNvPr id="44" name="圆角矩形 43"/>
            <p:cNvSpPr/>
            <p:nvPr/>
          </p:nvSpPr>
          <p:spPr>
            <a:xfrm>
              <a:off x="17070" y="8785"/>
              <a:ext cx="225" cy="234"/>
            </a:xfrm>
            <a:prstGeom prst="roundRect">
              <a:avLst/>
            </a:prstGeom>
            <a:solidFill>
              <a:srgbClr val="F8EBB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olidFill>
                  <a:schemeClr val="tx1"/>
                </a:solidFill>
                <a:sym typeface="+mn-ea"/>
              </a:endParaRPr>
            </a:p>
          </p:txBody>
        </p:sp>
      </p:grpSp>
      <p:grpSp>
        <p:nvGrpSpPr>
          <p:cNvPr id="98" name="组合 97"/>
          <p:cNvGrpSpPr/>
          <p:nvPr/>
        </p:nvGrpSpPr>
        <p:grpSpPr>
          <a:xfrm>
            <a:off x="7994015" y="5727065"/>
            <a:ext cx="855980" cy="148590"/>
            <a:chOff x="12702" y="9282"/>
            <a:chExt cx="1348" cy="234"/>
          </a:xfrm>
        </p:grpSpPr>
        <p:sp>
          <p:nvSpPr>
            <p:cNvPr id="48" name="圆角矩形 47"/>
            <p:cNvSpPr/>
            <p:nvPr/>
          </p:nvSpPr>
          <p:spPr>
            <a:xfrm>
              <a:off x="12702" y="9282"/>
              <a:ext cx="225" cy="234"/>
            </a:xfrm>
            <a:prstGeom prst="roundRect">
              <a:avLst/>
            </a:prstGeom>
            <a:solidFill>
              <a:srgbClr val="B8C7AA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olidFill>
                  <a:schemeClr val="tx1"/>
                </a:solidFill>
                <a:sym typeface="+mn-ea"/>
              </a:endParaRPr>
            </a:p>
          </p:txBody>
        </p:sp>
        <p:sp>
          <p:nvSpPr>
            <p:cNvPr id="49" name="圆角矩形 48"/>
            <p:cNvSpPr/>
            <p:nvPr/>
          </p:nvSpPr>
          <p:spPr>
            <a:xfrm>
              <a:off x="12926" y="9282"/>
              <a:ext cx="225" cy="234"/>
            </a:xfrm>
            <a:prstGeom prst="roundRect">
              <a:avLst/>
            </a:prstGeom>
            <a:solidFill>
              <a:srgbClr val="B8C7AA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olidFill>
                  <a:schemeClr val="tx1"/>
                </a:solidFill>
                <a:sym typeface="+mn-ea"/>
              </a:endParaRPr>
            </a:p>
          </p:txBody>
        </p:sp>
        <p:sp>
          <p:nvSpPr>
            <p:cNvPr id="67" name="圆角矩形 66"/>
            <p:cNvSpPr/>
            <p:nvPr/>
          </p:nvSpPr>
          <p:spPr>
            <a:xfrm>
              <a:off x="13151" y="9282"/>
              <a:ext cx="225" cy="234"/>
            </a:xfrm>
            <a:prstGeom prst="roundRect">
              <a:avLst/>
            </a:prstGeom>
            <a:solidFill>
              <a:srgbClr val="B8C7AA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olidFill>
                  <a:schemeClr val="tx1"/>
                </a:solidFill>
                <a:sym typeface="+mn-ea"/>
              </a:endParaRPr>
            </a:p>
          </p:txBody>
        </p:sp>
        <p:sp>
          <p:nvSpPr>
            <p:cNvPr id="69" name="圆角矩形 68"/>
            <p:cNvSpPr/>
            <p:nvPr/>
          </p:nvSpPr>
          <p:spPr>
            <a:xfrm>
              <a:off x="13376" y="9282"/>
              <a:ext cx="225" cy="234"/>
            </a:xfrm>
            <a:prstGeom prst="roundRect">
              <a:avLst/>
            </a:prstGeom>
            <a:solidFill>
              <a:srgbClr val="B8C7AA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olidFill>
                  <a:schemeClr val="tx1"/>
                </a:solidFill>
                <a:sym typeface="+mn-ea"/>
              </a:endParaRPr>
            </a:p>
          </p:txBody>
        </p:sp>
        <p:sp>
          <p:nvSpPr>
            <p:cNvPr id="74" name="圆角矩形 73"/>
            <p:cNvSpPr/>
            <p:nvPr/>
          </p:nvSpPr>
          <p:spPr>
            <a:xfrm>
              <a:off x="13601" y="9282"/>
              <a:ext cx="225" cy="234"/>
            </a:xfrm>
            <a:prstGeom prst="roundRect">
              <a:avLst/>
            </a:prstGeom>
            <a:solidFill>
              <a:srgbClr val="B8C7AA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olidFill>
                  <a:schemeClr val="tx1"/>
                </a:solidFill>
                <a:sym typeface="+mn-ea"/>
              </a:endParaRPr>
            </a:p>
          </p:txBody>
        </p:sp>
        <p:sp>
          <p:nvSpPr>
            <p:cNvPr id="77" name="圆角矩形 76"/>
            <p:cNvSpPr/>
            <p:nvPr/>
          </p:nvSpPr>
          <p:spPr>
            <a:xfrm>
              <a:off x="13826" y="9282"/>
              <a:ext cx="225" cy="234"/>
            </a:xfrm>
            <a:prstGeom prst="roundRect">
              <a:avLst/>
            </a:prstGeom>
            <a:solidFill>
              <a:srgbClr val="B8C7AA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olidFill>
                  <a:schemeClr val="tx1"/>
                </a:solidFill>
                <a:sym typeface="+mn-ea"/>
              </a:endParaRPr>
            </a:p>
          </p:txBody>
        </p:sp>
      </p:grpSp>
      <p:sp>
        <p:nvSpPr>
          <p:cNvPr id="99" name="圆角矩形 98"/>
          <p:cNvSpPr/>
          <p:nvPr/>
        </p:nvSpPr>
        <p:spPr>
          <a:xfrm>
            <a:off x="9114790" y="5727065"/>
            <a:ext cx="142875" cy="148590"/>
          </a:xfrm>
          <a:prstGeom prst="roundRect">
            <a:avLst/>
          </a:prstGeom>
          <a:solidFill>
            <a:srgbClr val="B8C7AA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108" name="圆角矩形 107"/>
          <p:cNvSpPr/>
          <p:nvPr/>
        </p:nvSpPr>
        <p:spPr>
          <a:xfrm>
            <a:off x="9257665" y="5727065"/>
            <a:ext cx="142875" cy="148590"/>
          </a:xfrm>
          <a:prstGeom prst="roundRect">
            <a:avLst/>
          </a:prstGeom>
          <a:solidFill>
            <a:srgbClr val="B8C7AA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111" name="文本框 110"/>
          <p:cNvSpPr txBox="1"/>
          <p:nvPr/>
        </p:nvSpPr>
        <p:spPr>
          <a:xfrm>
            <a:off x="8264525" y="5240655"/>
            <a:ext cx="95694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1000">
                <a:latin typeface="微软雅黑" panose="020B0503020204020204" charset="-122"/>
                <a:ea typeface="微软雅黑" panose="020B0503020204020204" charset="-122"/>
              </a:rPr>
              <a:t>ɑ·Mamba</a:t>
            </a:r>
            <a:r>
              <a:rPr lang="en-US" sz="1000" baseline="-25000">
                <a:latin typeface="微软雅黑" panose="020B0503020204020204" charset="-122"/>
                <a:ea typeface="微软雅黑" panose="020B0503020204020204" charset="-122"/>
              </a:rPr>
              <a:t>fwd</a:t>
            </a:r>
            <a:endParaRPr lang="en-US" sz="1000" baseline="-25000"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112" name="文本框 111"/>
          <p:cNvSpPr txBox="1"/>
          <p:nvPr/>
        </p:nvSpPr>
        <p:spPr>
          <a:xfrm>
            <a:off x="8086090" y="6113145"/>
            <a:ext cx="1261110" cy="3835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1000">
                <a:latin typeface="微软雅黑" panose="020B0503020204020204" charset="-122"/>
                <a:ea typeface="微软雅黑" panose="020B0503020204020204" charset="-122"/>
              </a:rPr>
              <a:t>β·Mamba</a:t>
            </a:r>
            <a:r>
              <a:rPr lang="en-US" sz="1000" baseline="-25000">
                <a:latin typeface="微软雅黑" panose="020B0503020204020204" charset="-122"/>
                <a:ea typeface="微软雅黑" panose="020B0503020204020204" charset="-122"/>
              </a:rPr>
              <a:t>b</a:t>
            </a:r>
            <a:r>
              <a:rPr lang="en-US" sz="1000" baseline="-25000">
                <a:latin typeface="微软雅黑" panose="020B0503020204020204" charset="-122"/>
                <a:ea typeface="微软雅黑" panose="020B0503020204020204" charset="-122"/>
              </a:rPr>
              <a:t>wd</a:t>
            </a:r>
            <a:endParaRPr lang="en-US" sz="1000" baseline="-25000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en-US" sz="900"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(flip→Mamba→flip)</a:t>
            </a:r>
            <a:endParaRPr lang="en-US" sz="900"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113" name="文本框 112"/>
          <p:cNvSpPr txBox="1"/>
          <p:nvPr/>
        </p:nvSpPr>
        <p:spPr>
          <a:xfrm>
            <a:off x="8853805" y="5647055"/>
            <a:ext cx="26035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1000">
                <a:latin typeface="微软雅黑" panose="020B0503020204020204" charset="-122"/>
                <a:ea typeface="微软雅黑" panose="020B0503020204020204" charset="-122"/>
              </a:rPr>
              <a:t>…</a:t>
            </a:r>
            <a:endParaRPr lang="en-US" sz="1000" baseline="-25000"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114" name="文本框 113"/>
          <p:cNvSpPr txBox="1"/>
          <p:nvPr/>
        </p:nvSpPr>
        <p:spPr>
          <a:xfrm>
            <a:off x="9078595" y="5517515"/>
            <a:ext cx="26035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1000" i="1">
                <a:latin typeface="微软雅黑" panose="020B0503020204020204" charset="-122"/>
                <a:ea typeface="微软雅黑" panose="020B0503020204020204" charset="-122"/>
              </a:rPr>
              <a:t>T</a:t>
            </a:r>
            <a:endParaRPr lang="en-US" sz="1000" i="1" baseline="-25000"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115" name="文本框 114"/>
          <p:cNvSpPr txBox="1"/>
          <p:nvPr/>
        </p:nvSpPr>
        <p:spPr>
          <a:xfrm>
            <a:off x="7863840" y="4853940"/>
            <a:ext cx="20891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1400" b="1" i="1">
                <a:latin typeface="微软雅黑" panose="020B0503020204020204" charset="-122"/>
                <a:ea typeface="微软雅黑" panose="020B0503020204020204" charset="-122"/>
              </a:rPr>
              <a:t>Bidirectional Mamba</a:t>
            </a:r>
            <a:endParaRPr lang="en-US" sz="1400" b="1" i="1" baseline="-25000"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116" name="文本框 115"/>
          <p:cNvSpPr txBox="1"/>
          <p:nvPr/>
        </p:nvSpPr>
        <p:spPr>
          <a:xfrm rot="16200000">
            <a:off x="7027545" y="5685155"/>
            <a:ext cx="1065530" cy="2311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1400" baseline="-25000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Flatted features</a:t>
            </a:r>
            <a:endParaRPr lang="en-US" sz="1400" baseline="-25000"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117" name="文本框 116"/>
          <p:cNvSpPr txBox="1"/>
          <p:nvPr/>
        </p:nvSpPr>
        <p:spPr>
          <a:xfrm>
            <a:off x="7352030" y="6325870"/>
            <a:ext cx="775335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1400" baseline="-25000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Flatted features</a:t>
            </a:r>
            <a:endParaRPr lang="en-US" sz="1400" baseline="-25000"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118" name="文本框 117"/>
          <p:cNvSpPr txBox="1"/>
          <p:nvPr/>
        </p:nvSpPr>
        <p:spPr>
          <a:xfrm>
            <a:off x="8006715" y="6470015"/>
            <a:ext cx="189928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1000">
                <a:latin typeface="微软雅黑" panose="020B0503020204020204" charset="-122"/>
                <a:ea typeface="微软雅黑" panose="020B0503020204020204" charset="-122"/>
              </a:rPr>
              <a:t>ɑ,</a:t>
            </a:r>
            <a:r>
              <a:rPr lang="en-US" sz="1000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β are learnable parameters</a:t>
            </a:r>
            <a:endParaRPr lang="en-US" sz="1000" baseline="-25000"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119" name="文本框 118"/>
          <p:cNvSpPr txBox="1"/>
          <p:nvPr/>
        </p:nvSpPr>
        <p:spPr>
          <a:xfrm>
            <a:off x="9373870" y="6303645"/>
            <a:ext cx="92392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1000">
                <a:latin typeface="微软雅黑" panose="020B0503020204020204" charset="-122"/>
                <a:ea typeface="微软雅黑" panose="020B0503020204020204" charset="-122"/>
              </a:rPr>
              <a:t>ɑ·f</a:t>
            </a:r>
            <a:r>
              <a:rPr lang="en-US" sz="1000" baseline="-25000">
                <a:latin typeface="微软雅黑" panose="020B0503020204020204" charset="-122"/>
                <a:ea typeface="微软雅黑" panose="020B0503020204020204" charset="-122"/>
              </a:rPr>
              <a:t>wd</a:t>
            </a:r>
            <a:r>
              <a:rPr lang="en-US" sz="1000">
                <a:latin typeface="微软雅黑" panose="020B0503020204020204" charset="-122"/>
                <a:ea typeface="微软雅黑" panose="020B0503020204020204" charset="-122"/>
              </a:rPr>
              <a:t>+</a:t>
            </a:r>
            <a:r>
              <a:rPr lang="en-US" sz="1000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β</a:t>
            </a:r>
            <a:r>
              <a:rPr lang="en-US" sz="1000">
                <a:latin typeface="微软雅黑" panose="020B0503020204020204" charset="-122"/>
                <a:ea typeface="微软雅黑" panose="020B0503020204020204" charset="-122"/>
                <a:sym typeface="+mn-ea"/>
              </a:rPr>
              <a:t>·b</a:t>
            </a:r>
            <a:r>
              <a:rPr lang="en-US" sz="1000" baseline="-25000">
                <a:latin typeface="微软雅黑" panose="020B0503020204020204" charset="-122"/>
                <a:ea typeface="微软雅黑" panose="020B0503020204020204" charset="-122"/>
                <a:sym typeface="+mn-ea"/>
              </a:rPr>
              <a:t>wd</a:t>
            </a:r>
            <a:endParaRPr lang="en-US" sz="1000" baseline="-25000"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</p:txBody>
      </p:sp>
      <p:cxnSp>
        <p:nvCxnSpPr>
          <p:cNvPr id="162" name="直接箭头连接符 161"/>
          <p:cNvCxnSpPr>
            <a:stCxn id="172" idx="0"/>
            <a:endCxn id="33" idx="1"/>
          </p:cNvCxnSpPr>
          <p:nvPr/>
        </p:nvCxnSpPr>
        <p:spPr>
          <a:xfrm>
            <a:off x="9796780" y="5814695"/>
            <a:ext cx="252730" cy="444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4" name="直接箭头连接符 173"/>
          <p:cNvCxnSpPr/>
          <p:nvPr/>
        </p:nvCxnSpPr>
        <p:spPr>
          <a:xfrm>
            <a:off x="7835265" y="5814695"/>
            <a:ext cx="135890" cy="12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5" name="右箭头 174"/>
          <p:cNvSpPr/>
          <p:nvPr/>
        </p:nvSpPr>
        <p:spPr>
          <a:xfrm>
            <a:off x="8006715" y="5424170"/>
            <a:ext cx="1416050" cy="141605"/>
          </a:xfrm>
          <a:prstGeom prst="rightArrow">
            <a:avLst/>
          </a:prstGeom>
          <a:gradFill>
            <a:gsLst>
              <a:gs pos="0">
                <a:srgbClr val="C3CCB1"/>
              </a:gs>
              <a:gs pos="100000">
                <a:srgbClr val="4D5A27"/>
              </a:gs>
            </a:gsLst>
            <a:lin ang="0" scaled="0"/>
          </a:gra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6" name="右箭头 175"/>
          <p:cNvSpPr/>
          <p:nvPr/>
        </p:nvSpPr>
        <p:spPr>
          <a:xfrm flipH="1">
            <a:off x="8035925" y="6024245"/>
            <a:ext cx="1416050" cy="141605"/>
          </a:xfrm>
          <a:prstGeom prst="rightArrow">
            <a:avLst/>
          </a:prstGeom>
          <a:gradFill>
            <a:gsLst>
              <a:gs pos="0">
                <a:srgbClr val="C3CCB1"/>
              </a:gs>
              <a:gs pos="100000">
                <a:srgbClr val="4D5A27"/>
              </a:gs>
            </a:gsLst>
            <a:lin ang="0" scaled="0"/>
          </a:gra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7" name="右箭头 176"/>
          <p:cNvSpPr/>
          <p:nvPr/>
        </p:nvSpPr>
        <p:spPr>
          <a:xfrm rot="7740000" flipH="1">
            <a:off x="9434195" y="5866130"/>
            <a:ext cx="234315" cy="141605"/>
          </a:xfrm>
          <a:prstGeom prst="rightArrow">
            <a:avLst/>
          </a:prstGeom>
          <a:gradFill>
            <a:gsLst>
              <a:gs pos="0">
                <a:srgbClr val="C3CCB1"/>
              </a:gs>
              <a:gs pos="100000">
                <a:srgbClr val="4D5A27"/>
              </a:gs>
            </a:gsLst>
            <a:lin ang="0" scaled="0"/>
          </a:gra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8" name="右箭头 177"/>
          <p:cNvSpPr/>
          <p:nvPr/>
        </p:nvSpPr>
        <p:spPr>
          <a:xfrm rot="13800000" flipH="1">
            <a:off x="9435465" y="5582285"/>
            <a:ext cx="234315" cy="141605"/>
          </a:xfrm>
          <a:prstGeom prst="rightArrow">
            <a:avLst/>
          </a:prstGeom>
          <a:gradFill>
            <a:gsLst>
              <a:gs pos="0">
                <a:srgbClr val="C3CCB1"/>
              </a:gs>
              <a:gs pos="100000">
                <a:srgbClr val="4D5A27"/>
              </a:gs>
            </a:gsLst>
            <a:lin ang="0" scaled="0"/>
          </a:gra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0" name="圆角矩形 179"/>
          <p:cNvSpPr/>
          <p:nvPr/>
        </p:nvSpPr>
        <p:spPr>
          <a:xfrm>
            <a:off x="4739640" y="6263640"/>
            <a:ext cx="898525" cy="129540"/>
          </a:xfrm>
          <a:prstGeom prst="roundRect">
            <a:avLst/>
          </a:prstGeom>
          <a:gradFill>
            <a:gsLst>
              <a:gs pos="0">
                <a:srgbClr val="3C74A3"/>
              </a:gs>
              <a:gs pos="72000">
                <a:srgbClr val="608FB8"/>
              </a:gs>
              <a:gs pos="68000">
                <a:srgbClr val="3C74A3"/>
              </a:gs>
              <a:gs pos="100000">
                <a:srgbClr val="608FB8"/>
              </a:gs>
            </a:gsLst>
            <a:lin ang="0" scaled="0"/>
          </a:gra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1" name="文本框 180"/>
          <p:cNvSpPr txBox="1"/>
          <p:nvPr/>
        </p:nvSpPr>
        <p:spPr>
          <a:xfrm>
            <a:off x="4459605" y="4854575"/>
            <a:ext cx="248221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1400" b="1" i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Invertible Freq Exchange</a:t>
            </a:r>
            <a:endParaRPr lang="en-US" sz="1400" b="1" i="1" baseline="-2500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188" name="任意多边形 187"/>
          <p:cNvSpPr/>
          <p:nvPr/>
        </p:nvSpPr>
        <p:spPr>
          <a:xfrm>
            <a:off x="943610" y="5321541"/>
            <a:ext cx="2640965" cy="779127"/>
          </a:xfrm>
          <a:custGeom>
            <a:avLst/>
            <a:gdLst>
              <a:gd name="connsiteX0" fmla="*/ 0 w 4159"/>
              <a:gd name="connsiteY0" fmla="*/ 1085 h 1226"/>
              <a:gd name="connsiteX1" fmla="*/ 102 w 4159"/>
              <a:gd name="connsiteY1" fmla="*/ 996 h 1226"/>
              <a:gd name="connsiteX2" fmla="*/ 238 w 4159"/>
              <a:gd name="connsiteY2" fmla="*/ 1051 h 1226"/>
              <a:gd name="connsiteX3" fmla="*/ 409 w 4159"/>
              <a:gd name="connsiteY3" fmla="*/ 527 h 1226"/>
              <a:gd name="connsiteX4" fmla="*/ 538 w 4159"/>
              <a:gd name="connsiteY4" fmla="*/ 512 h 1226"/>
              <a:gd name="connsiteX5" fmla="*/ 661 w 4159"/>
              <a:gd name="connsiteY5" fmla="*/ 43 h 1226"/>
              <a:gd name="connsiteX6" fmla="*/ 845 w 4159"/>
              <a:gd name="connsiteY6" fmla="*/ 438 h 1226"/>
              <a:gd name="connsiteX7" fmla="*/ 1063 w 4159"/>
              <a:gd name="connsiteY7" fmla="*/ 546 h 1226"/>
              <a:gd name="connsiteX8" fmla="*/ 1275 w 4159"/>
              <a:gd name="connsiteY8" fmla="*/ 997 h 1226"/>
              <a:gd name="connsiteX9" fmla="*/ 1561 w 4159"/>
              <a:gd name="connsiteY9" fmla="*/ 1078 h 1226"/>
              <a:gd name="connsiteX10" fmla="*/ 1670 w 4159"/>
              <a:gd name="connsiteY10" fmla="*/ 1071 h 1226"/>
              <a:gd name="connsiteX11" fmla="*/ 1840 w 4159"/>
              <a:gd name="connsiteY11" fmla="*/ 615 h 1226"/>
              <a:gd name="connsiteX12" fmla="*/ 1970 w 4159"/>
              <a:gd name="connsiteY12" fmla="*/ 403 h 1226"/>
              <a:gd name="connsiteX13" fmla="*/ 2086 w 4159"/>
              <a:gd name="connsiteY13" fmla="*/ 198 h 1226"/>
              <a:gd name="connsiteX14" fmla="*/ 2290 w 4159"/>
              <a:gd name="connsiteY14" fmla="*/ 683 h 1226"/>
              <a:gd name="connsiteX15" fmla="*/ 2515 w 4159"/>
              <a:gd name="connsiteY15" fmla="*/ 723 h 1226"/>
              <a:gd name="connsiteX16" fmla="*/ 2679 w 4159"/>
              <a:gd name="connsiteY16" fmla="*/ 1092 h 1226"/>
              <a:gd name="connsiteX17" fmla="*/ 2884 w 4159"/>
              <a:gd name="connsiteY17" fmla="*/ 1017 h 1226"/>
              <a:gd name="connsiteX18" fmla="*/ 2993 w 4159"/>
              <a:gd name="connsiteY18" fmla="*/ 976 h 1226"/>
              <a:gd name="connsiteX19" fmla="*/ 3184 w 4159"/>
              <a:gd name="connsiteY19" fmla="*/ 198 h 1226"/>
              <a:gd name="connsiteX20" fmla="*/ 3525 w 4159"/>
              <a:gd name="connsiteY20" fmla="*/ 518 h 1226"/>
              <a:gd name="connsiteX21" fmla="*/ 3688 w 4159"/>
              <a:gd name="connsiteY21" fmla="*/ 627 h 1226"/>
              <a:gd name="connsiteX22" fmla="*/ 3940 w 4159"/>
              <a:gd name="connsiteY22" fmla="*/ 1172 h 1226"/>
              <a:gd name="connsiteX23" fmla="*/ 4159 w 4159"/>
              <a:gd name="connsiteY23" fmla="*/ 853 h 1226"/>
              <a:gd name="connsiteX24" fmla="*/ 4159 w 4159"/>
              <a:gd name="connsiteY24" fmla="*/ 846 h 12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59" h="1227">
                <a:moveTo>
                  <a:pt x="0" y="1085"/>
                </a:moveTo>
                <a:cubicBezTo>
                  <a:pt x="34" y="1055"/>
                  <a:pt x="79" y="973"/>
                  <a:pt x="102" y="996"/>
                </a:cubicBezTo>
                <a:cubicBezTo>
                  <a:pt x="125" y="1019"/>
                  <a:pt x="184" y="1065"/>
                  <a:pt x="238" y="1051"/>
                </a:cubicBezTo>
                <a:cubicBezTo>
                  <a:pt x="292" y="1037"/>
                  <a:pt x="371" y="644"/>
                  <a:pt x="409" y="527"/>
                </a:cubicBezTo>
                <a:cubicBezTo>
                  <a:pt x="447" y="410"/>
                  <a:pt x="506" y="498"/>
                  <a:pt x="538" y="512"/>
                </a:cubicBezTo>
                <a:cubicBezTo>
                  <a:pt x="570" y="526"/>
                  <a:pt x="606" y="211"/>
                  <a:pt x="661" y="43"/>
                </a:cubicBezTo>
                <a:cubicBezTo>
                  <a:pt x="716" y="-125"/>
                  <a:pt x="770" y="245"/>
                  <a:pt x="845" y="438"/>
                </a:cubicBezTo>
                <a:cubicBezTo>
                  <a:pt x="920" y="631"/>
                  <a:pt x="1017" y="559"/>
                  <a:pt x="1063" y="546"/>
                </a:cubicBezTo>
                <a:cubicBezTo>
                  <a:pt x="1109" y="533"/>
                  <a:pt x="1154" y="806"/>
                  <a:pt x="1275" y="997"/>
                </a:cubicBezTo>
                <a:cubicBezTo>
                  <a:pt x="1396" y="1188"/>
                  <a:pt x="1515" y="1091"/>
                  <a:pt x="1561" y="1078"/>
                </a:cubicBezTo>
                <a:cubicBezTo>
                  <a:pt x="1607" y="1065"/>
                  <a:pt x="1627" y="1075"/>
                  <a:pt x="1670" y="1071"/>
                </a:cubicBezTo>
                <a:cubicBezTo>
                  <a:pt x="1713" y="1067"/>
                  <a:pt x="1769" y="824"/>
                  <a:pt x="1840" y="615"/>
                </a:cubicBezTo>
                <a:cubicBezTo>
                  <a:pt x="1911" y="406"/>
                  <a:pt x="1947" y="414"/>
                  <a:pt x="1970" y="403"/>
                </a:cubicBezTo>
                <a:cubicBezTo>
                  <a:pt x="1993" y="392"/>
                  <a:pt x="2047" y="266"/>
                  <a:pt x="2086" y="198"/>
                </a:cubicBezTo>
                <a:cubicBezTo>
                  <a:pt x="2125" y="130"/>
                  <a:pt x="2201" y="489"/>
                  <a:pt x="2290" y="683"/>
                </a:cubicBezTo>
                <a:cubicBezTo>
                  <a:pt x="2379" y="877"/>
                  <a:pt x="2460" y="741"/>
                  <a:pt x="2515" y="723"/>
                </a:cubicBezTo>
                <a:cubicBezTo>
                  <a:pt x="2570" y="705"/>
                  <a:pt x="2608" y="946"/>
                  <a:pt x="2679" y="1092"/>
                </a:cubicBezTo>
                <a:cubicBezTo>
                  <a:pt x="2750" y="1238"/>
                  <a:pt x="2831" y="1064"/>
                  <a:pt x="2884" y="1017"/>
                </a:cubicBezTo>
                <a:cubicBezTo>
                  <a:pt x="2937" y="970"/>
                  <a:pt x="2956" y="989"/>
                  <a:pt x="2993" y="976"/>
                </a:cubicBezTo>
                <a:cubicBezTo>
                  <a:pt x="3030" y="963"/>
                  <a:pt x="3093" y="500"/>
                  <a:pt x="3184" y="198"/>
                </a:cubicBezTo>
                <a:cubicBezTo>
                  <a:pt x="3275" y="-104"/>
                  <a:pt x="3411" y="311"/>
                  <a:pt x="3525" y="518"/>
                </a:cubicBezTo>
                <a:cubicBezTo>
                  <a:pt x="3639" y="725"/>
                  <a:pt x="3644" y="649"/>
                  <a:pt x="3688" y="627"/>
                </a:cubicBezTo>
                <a:cubicBezTo>
                  <a:pt x="3732" y="605"/>
                  <a:pt x="3856" y="972"/>
                  <a:pt x="3940" y="1172"/>
                </a:cubicBezTo>
                <a:cubicBezTo>
                  <a:pt x="4024" y="1372"/>
                  <a:pt x="4102" y="975"/>
                  <a:pt x="4159" y="853"/>
                </a:cubicBezTo>
                <a:lnTo>
                  <a:pt x="4159" y="846"/>
                </a:lnTo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82" name="直接箭头连接符 181"/>
          <p:cNvCxnSpPr>
            <a:stCxn id="154" idx="2"/>
            <a:endCxn id="160" idx="0"/>
          </p:cNvCxnSpPr>
          <p:nvPr/>
        </p:nvCxnSpPr>
        <p:spPr>
          <a:xfrm>
            <a:off x="5189220" y="5581650"/>
            <a:ext cx="1057275" cy="681990"/>
          </a:xfrm>
          <a:prstGeom prst="straightConnector1">
            <a:avLst/>
          </a:prstGeom>
          <a:ln>
            <a:solidFill>
              <a:srgbClr val="52446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3" name="直接箭头连接符 182"/>
          <p:cNvCxnSpPr>
            <a:stCxn id="155" idx="2"/>
            <a:endCxn id="180" idx="0"/>
          </p:cNvCxnSpPr>
          <p:nvPr/>
        </p:nvCxnSpPr>
        <p:spPr>
          <a:xfrm flipH="1">
            <a:off x="5189220" y="5581650"/>
            <a:ext cx="1025525" cy="681990"/>
          </a:xfrm>
          <a:prstGeom prst="straightConnector1">
            <a:avLst/>
          </a:prstGeom>
          <a:ln>
            <a:solidFill>
              <a:srgbClr val="52446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4" name="文本框 183"/>
          <p:cNvSpPr txBox="1"/>
          <p:nvPr/>
        </p:nvSpPr>
        <p:spPr>
          <a:xfrm>
            <a:off x="4786630" y="5709285"/>
            <a:ext cx="731520" cy="3308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1200" baseline="-25000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coupling</a:t>
            </a:r>
            <a:endParaRPr lang="en-US" sz="1200" baseline="-25000"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  <a:p>
            <a:pPr algn="ctr"/>
            <a:r>
              <a:rPr lang="en-US" sz="1200" baseline="-25000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error~1e-6</a:t>
            </a:r>
            <a:endParaRPr lang="en-US" sz="1200" baseline="-25000"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186" name="任意多边形 185"/>
          <p:cNvSpPr/>
          <p:nvPr/>
        </p:nvSpPr>
        <p:spPr>
          <a:xfrm>
            <a:off x="952500" y="6114415"/>
            <a:ext cx="2654300" cy="462915"/>
          </a:xfrm>
          <a:custGeom>
            <a:avLst/>
            <a:gdLst>
              <a:gd name="connisteX0" fmla="*/ 0 w 2654300"/>
              <a:gd name="connsiteY0" fmla="*/ 241935 h 462915"/>
              <a:gd name="connisteX1" fmla="*/ 17780 w 2654300"/>
              <a:gd name="connsiteY1" fmla="*/ 186055 h 462915"/>
              <a:gd name="connisteX2" fmla="*/ 43180 w 2654300"/>
              <a:gd name="connsiteY2" fmla="*/ 298450 h 462915"/>
              <a:gd name="connisteX3" fmla="*/ 69215 w 2654300"/>
              <a:gd name="connsiteY3" fmla="*/ 146685 h 462915"/>
              <a:gd name="connisteX4" fmla="*/ 95250 w 2654300"/>
              <a:gd name="connsiteY4" fmla="*/ 320040 h 462915"/>
              <a:gd name="connisteX5" fmla="*/ 116840 w 2654300"/>
              <a:gd name="connsiteY5" fmla="*/ 138430 h 462915"/>
              <a:gd name="connisteX6" fmla="*/ 138430 w 2654300"/>
              <a:gd name="connsiteY6" fmla="*/ 328930 h 462915"/>
              <a:gd name="connisteX7" fmla="*/ 168910 w 2654300"/>
              <a:gd name="connsiteY7" fmla="*/ 121285 h 462915"/>
              <a:gd name="connisteX8" fmla="*/ 199390 w 2654300"/>
              <a:gd name="connsiteY8" fmla="*/ 346075 h 462915"/>
              <a:gd name="connisteX9" fmla="*/ 216535 w 2654300"/>
              <a:gd name="connsiteY9" fmla="*/ 107950 h 462915"/>
              <a:gd name="connisteX10" fmla="*/ 242570 w 2654300"/>
              <a:gd name="connsiteY10" fmla="*/ 346075 h 462915"/>
              <a:gd name="connisteX11" fmla="*/ 268605 w 2654300"/>
              <a:gd name="connsiteY11" fmla="*/ 86360 h 462915"/>
              <a:gd name="connisteX12" fmla="*/ 285750 w 2654300"/>
              <a:gd name="connsiteY12" fmla="*/ 393700 h 462915"/>
              <a:gd name="connisteX13" fmla="*/ 325120 w 2654300"/>
              <a:gd name="connsiteY13" fmla="*/ 51435 h 462915"/>
              <a:gd name="connisteX14" fmla="*/ 342265 w 2654300"/>
              <a:gd name="connsiteY14" fmla="*/ 424180 h 462915"/>
              <a:gd name="connisteX15" fmla="*/ 363855 w 2654300"/>
              <a:gd name="connsiteY15" fmla="*/ 69215 h 462915"/>
              <a:gd name="connisteX16" fmla="*/ 394335 w 2654300"/>
              <a:gd name="connsiteY16" fmla="*/ 393700 h 462915"/>
              <a:gd name="connisteX17" fmla="*/ 420370 w 2654300"/>
              <a:gd name="connsiteY17" fmla="*/ 95250 h 462915"/>
              <a:gd name="connisteX18" fmla="*/ 441960 w 2654300"/>
              <a:gd name="connsiteY18" fmla="*/ 393700 h 462915"/>
              <a:gd name="connisteX19" fmla="*/ 467995 w 2654300"/>
              <a:gd name="connsiteY19" fmla="*/ 90805 h 462915"/>
              <a:gd name="connisteX20" fmla="*/ 494030 w 2654300"/>
              <a:gd name="connsiteY20" fmla="*/ 367665 h 462915"/>
              <a:gd name="connisteX21" fmla="*/ 515620 w 2654300"/>
              <a:gd name="connsiteY21" fmla="*/ 95250 h 462915"/>
              <a:gd name="connisteX22" fmla="*/ 545465 w 2654300"/>
              <a:gd name="connsiteY22" fmla="*/ 324485 h 462915"/>
              <a:gd name="connisteX23" fmla="*/ 571500 w 2654300"/>
              <a:gd name="connsiteY23" fmla="*/ 146685 h 462915"/>
              <a:gd name="connisteX24" fmla="*/ 593090 w 2654300"/>
              <a:gd name="connsiteY24" fmla="*/ 302895 h 462915"/>
              <a:gd name="connisteX25" fmla="*/ 614680 w 2654300"/>
              <a:gd name="connsiteY25" fmla="*/ 177165 h 462915"/>
              <a:gd name="connisteX26" fmla="*/ 645160 w 2654300"/>
              <a:gd name="connsiteY26" fmla="*/ 241935 h 462915"/>
              <a:gd name="connisteX27" fmla="*/ 666750 w 2654300"/>
              <a:gd name="connsiteY27" fmla="*/ 190500 h 462915"/>
              <a:gd name="connisteX28" fmla="*/ 692785 w 2654300"/>
              <a:gd name="connsiteY28" fmla="*/ 328930 h 462915"/>
              <a:gd name="connisteX29" fmla="*/ 714375 w 2654300"/>
              <a:gd name="connsiteY29" fmla="*/ 112395 h 462915"/>
              <a:gd name="connisteX30" fmla="*/ 740410 w 2654300"/>
              <a:gd name="connsiteY30" fmla="*/ 341630 h 462915"/>
              <a:gd name="connisteX31" fmla="*/ 757555 w 2654300"/>
              <a:gd name="connsiteY31" fmla="*/ 116840 h 462915"/>
              <a:gd name="connisteX32" fmla="*/ 783590 w 2654300"/>
              <a:gd name="connsiteY32" fmla="*/ 363220 h 462915"/>
              <a:gd name="connisteX33" fmla="*/ 814070 w 2654300"/>
              <a:gd name="connsiteY33" fmla="*/ 95250 h 462915"/>
              <a:gd name="connisteX34" fmla="*/ 840105 w 2654300"/>
              <a:gd name="connsiteY34" fmla="*/ 367665 h 462915"/>
              <a:gd name="connisteX35" fmla="*/ 861695 w 2654300"/>
              <a:gd name="connsiteY35" fmla="*/ 116840 h 462915"/>
              <a:gd name="connisteX36" fmla="*/ 887730 w 2654300"/>
              <a:gd name="connsiteY36" fmla="*/ 359410 h 462915"/>
              <a:gd name="connisteX37" fmla="*/ 918210 w 2654300"/>
              <a:gd name="connsiteY37" fmla="*/ 116840 h 462915"/>
              <a:gd name="connisteX38" fmla="*/ 939800 w 2654300"/>
              <a:gd name="connsiteY38" fmla="*/ 320040 h 462915"/>
              <a:gd name="connisteX39" fmla="*/ 965835 w 2654300"/>
              <a:gd name="connsiteY39" fmla="*/ 172720 h 462915"/>
              <a:gd name="connisteX40" fmla="*/ 991870 w 2654300"/>
              <a:gd name="connsiteY40" fmla="*/ 333375 h 462915"/>
              <a:gd name="connisteX41" fmla="*/ 1013460 w 2654300"/>
              <a:gd name="connsiteY41" fmla="*/ 190500 h 462915"/>
              <a:gd name="connisteX42" fmla="*/ 1035050 w 2654300"/>
              <a:gd name="connsiteY42" fmla="*/ 285750 h 462915"/>
              <a:gd name="connisteX43" fmla="*/ 1056640 w 2654300"/>
              <a:gd name="connsiteY43" fmla="*/ 212090 h 462915"/>
              <a:gd name="connisteX44" fmla="*/ 1087120 w 2654300"/>
              <a:gd name="connsiteY44" fmla="*/ 267970 h 462915"/>
              <a:gd name="connisteX45" fmla="*/ 1116965 w 2654300"/>
              <a:gd name="connsiteY45" fmla="*/ 142875 h 462915"/>
              <a:gd name="connisteX46" fmla="*/ 1138555 w 2654300"/>
              <a:gd name="connsiteY46" fmla="*/ 333375 h 462915"/>
              <a:gd name="connisteX47" fmla="*/ 1156335 w 2654300"/>
              <a:gd name="connsiteY47" fmla="*/ 142875 h 462915"/>
              <a:gd name="connisteX48" fmla="*/ 1182370 w 2654300"/>
              <a:gd name="connsiteY48" fmla="*/ 302895 h 462915"/>
              <a:gd name="connisteX49" fmla="*/ 1203960 w 2654300"/>
              <a:gd name="connsiteY49" fmla="*/ 160020 h 462915"/>
              <a:gd name="connisteX50" fmla="*/ 1233805 w 2654300"/>
              <a:gd name="connsiteY50" fmla="*/ 281305 h 462915"/>
              <a:gd name="connisteX51" fmla="*/ 1256030 w 2654300"/>
              <a:gd name="connsiteY51" fmla="*/ 220345 h 462915"/>
              <a:gd name="connisteX52" fmla="*/ 1285875 w 2654300"/>
              <a:gd name="connsiteY52" fmla="*/ 264160 h 462915"/>
              <a:gd name="connisteX53" fmla="*/ 1311910 w 2654300"/>
              <a:gd name="connsiteY53" fmla="*/ 194310 h 462915"/>
              <a:gd name="connisteX54" fmla="*/ 1329055 w 2654300"/>
              <a:gd name="connsiteY54" fmla="*/ 259715 h 462915"/>
              <a:gd name="connisteX55" fmla="*/ 1337945 w 2654300"/>
              <a:gd name="connsiteY55" fmla="*/ 207645 h 462915"/>
              <a:gd name="connisteX56" fmla="*/ 1368425 w 2654300"/>
              <a:gd name="connsiteY56" fmla="*/ 250825 h 462915"/>
              <a:gd name="connisteX57" fmla="*/ 1394460 w 2654300"/>
              <a:gd name="connsiteY57" fmla="*/ 207645 h 462915"/>
              <a:gd name="connisteX58" fmla="*/ 1416050 w 2654300"/>
              <a:gd name="connsiteY58" fmla="*/ 281305 h 462915"/>
              <a:gd name="connisteX59" fmla="*/ 1442085 w 2654300"/>
              <a:gd name="connsiteY59" fmla="*/ 181610 h 462915"/>
              <a:gd name="connisteX60" fmla="*/ 1468120 w 2654300"/>
              <a:gd name="connsiteY60" fmla="*/ 276860 h 462915"/>
              <a:gd name="connisteX61" fmla="*/ 1485265 w 2654300"/>
              <a:gd name="connsiteY61" fmla="*/ 203200 h 462915"/>
              <a:gd name="connisteX62" fmla="*/ 1506855 w 2654300"/>
              <a:gd name="connsiteY62" fmla="*/ 241935 h 462915"/>
              <a:gd name="connisteX63" fmla="*/ 1528445 w 2654300"/>
              <a:gd name="connsiteY63" fmla="*/ 216535 h 462915"/>
              <a:gd name="connisteX64" fmla="*/ 1567180 w 2654300"/>
              <a:gd name="connsiteY64" fmla="*/ 267970 h 462915"/>
              <a:gd name="connisteX65" fmla="*/ 1584960 w 2654300"/>
              <a:gd name="connsiteY65" fmla="*/ 164465 h 462915"/>
              <a:gd name="connisteX66" fmla="*/ 1606550 w 2654300"/>
              <a:gd name="connsiteY66" fmla="*/ 307340 h 462915"/>
              <a:gd name="connisteX67" fmla="*/ 1640840 w 2654300"/>
              <a:gd name="connsiteY67" fmla="*/ 133985 h 462915"/>
              <a:gd name="connisteX68" fmla="*/ 1666875 w 2654300"/>
              <a:gd name="connsiteY68" fmla="*/ 333375 h 462915"/>
              <a:gd name="connisteX69" fmla="*/ 1684655 w 2654300"/>
              <a:gd name="connsiteY69" fmla="*/ 172720 h 462915"/>
              <a:gd name="connisteX70" fmla="*/ 1714500 w 2654300"/>
              <a:gd name="connsiteY70" fmla="*/ 272415 h 462915"/>
              <a:gd name="connisteX71" fmla="*/ 1736090 w 2654300"/>
              <a:gd name="connsiteY71" fmla="*/ 172720 h 462915"/>
              <a:gd name="connisteX72" fmla="*/ 1757680 w 2654300"/>
              <a:gd name="connsiteY72" fmla="*/ 276860 h 462915"/>
              <a:gd name="connisteX73" fmla="*/ 1779905 w 2654300"/>
              <a:gd name="connsiteY73" fmla="*/ 198755 h 462915"/>
              <a:gd name="connisteX74" fmla="*/ 1805305 w 2654300"/>
              <a:gd name="connsiteY74" fmla="*/ 272415 h 462915"/>
              <a:gd name="connisteX75" fmla="*/ 1827530 w 2654300"/>
              <a:gd name="connsiteY75" fmla="*/ 121285 h 462915"/>
              <a:gd name="connisteX76" fmla="*/ 1849120 w 2654300"/>
              <a:gd name="connsiteY76" fmla="*/ 346075 h 462915"/>
              <a:gd name="connisteX77" fmla="*/ 1883410 w 2654300"/>
              <a:gd name="connsiteY77" fmla="*/ 121285 h 462915"/>
              <a:gd name="connisteX78" fmla="*/ 1900555 w 2654300"/>
              <a:gd name="connsiteY78" fmla="*/ 367665 h 462915"/>
              <a:gd name="connisteX79" fmla="*/ 1922780 w 2654300"/>
              <a:gd name="connsiteY79" fmla="*/ 73660 h 462915"/>
              <a:gd name="connisteX80" fmla="*/ 1961515 w 2654300"/>
              <a:gd name="connsiteY80" fmla="*/ 410845 h 462915"/>
              <a:gd name="connisteX81" fmla="*/ 1978660 w 2654300"/>
              <a:gd name="connsiteY81" fmla="*/ 26035 h 462915"/>
              <a:gd name="connisteX82" fmla="*/ 2004695 w 2654300"/>
              <a:gd name="connsiteY82" fmla="*/ 462915 h 462915"/>
              <a:gd name="connisteX83" fmla="*/ 2030730 w 2654300"/>
              <a:gd name="connsiteY83" fmla="*/ 0 h 462915"/>
              <a:gd name="connisteX84" fmla="*/ 2052320 w 2654300"/>
              <a:gd name="connsiteY84" fmla="*/ 432435 h 462915"/>
              <a:gd name="connisteX85" fmla="*/ 2078355 w 2654300"/>
              <a:gd name="connsiteY85" fmla="*/ 99060 h 462915"/>
              <a:gd name="connisteX86" fmla="*/ 2108835 w 2654300"/>
              <a:gd name="connsiteY86" fmla="*/ 302895 h 462915"/>
              <a:gd name="connisteX87" fmla="*/ 2125980 w 2654300"/>
              <a:gd name="connsiteY87" fmla="*/ 181610 h 462915"/>
              <a:gd name="connisteX88" fmla="*/ 2152015 w 2654300"/>
              <a:gd name="connsiteY88" fmla="*/ 307340 h 462915"/>
              <a:gd name="connisteX89" fmla="*/ 2182495 w 2654300"/>
              <a:gd name="connsiteY89" fmla="*/ 103505 h 462915"/>
              <a:gd name="connisteX90" fmla="*/ 2204085 w 2654300"/>
              <a:gd name="connsiteY90" fmla="*/ 410845 h 462915"/>
              <a:gd name="connisteX91" fmla="*/ 2225675 w 2654300"/>
              <a:gd name="connsiteY91" fmla="*/ 38735 h 462915"/>
              <a:gd name="connisteX92" fmla="*/ 2259965 w 2654300"/>
              <a:gd name="connsiteY92" fmla="*/ 415290 h 462915"/>
              <a:gd name="connisteX93" fmla="*/ 2273300 w 2654300"/>
              <a:gd name="connsiteY93" fmla="*/ 60325 h 462915"/>
              <a:gd name="connisteX94" fmla="*/ 2299335 w 2654300"/>
              <a:gd name="connsiteY94" fmla="*/ 376555 h 462915"/>
              <a:gd name="connisteX95" fmla="*/ 2333625 w 2654300"/>
              <a:gd name="connsiteY95" fmla="*/ 73660 h 462915"/>
              <a:gd name="connisteX96" fmla="*/ 2359660 w 2654300"/>
              <a:gd name="connsiteY96" fmla="*/ 376555 h 462915"/>
              <a:gd name="connisteX97" fmla="*/ 2372995 w 2654300"/>
              <a:gd name="connsiteY97" fmla="*/ 103505 h 462915"/>
              <a:gd name="connisteX98" fmla="*/ 2402840 w 2654300"/>
              <a:gd name="connsiteY98" fmla="*/ 328930 h 462915"/>
              <a:gd name="connisteX99" fmla="*/ 2428875 w 2654300"/>
              <a:gd name="connsiteY99" fmla="*/ 116840 h 462915"/>
              <a:gd name="connisteX100" fmla="*/ 2459355 w 2654300"/>
              <a:gd name="connsiteY100" fmla="*/ 320040 h 462915"/>
              <a:gd name="connisteX101" fmla="*/ 2476500 w 2654300"/>
              <a:gd name="connsiteY101" fmla="*/ 160020 h 462915"/>
              <a:gd name="connisteX102" fmla="*/ 2506980 w 2654300"/>
              <a:gd name="connsiteY102" fmla="*/ 315595 h 462915"/>
              <a:gd name="connisteX103" fmla="*/ 2528570 w 2654300"/>
              <a:gd name="connsiteY103" fmla="*/ 190500 h 462915"/>
              <a:gd name="connisteX104" fmla="*/ 2541905 w 2654300"/>
              <a:gd name="connsiteY104" fmla="*/ 298450 h 462915"/>
              <a:gd name="connisteX105" fmla="*/ 2571750 w 2654300"/>
              <a:gd name="connsiteY105" fmla="*/ 99060 h 462915"/>
              <a:gd name="connisteX106" fmla="*/ 2611120 w 2654300"/>
              <a:gd name="connsiteY106" fmla="*/ 384810 h 462915"/>
              <a:gd name="connisteX107" fmla="*/ 2628265 w 2654300"/>
              <a:gd name="connsiteY107" fmla="*/ 164465 h 462915"/>
              <a:gd name="connisteX108" fmla="*/ 2645410 w 2654300"/>
              <a:gd name="connsiteY108" fmla="*/ 216535 h 462915"/>
              <a:gd name="connisteX109" fmla="*/ 2654300 w 2654300"/>
              <a:gd name="connsiteY109" fmla="*/ 220345 h 46291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  <a:cxn ang="0">
                <a:pos x="connisteX17" y="connsiteY17"/>
              </a:cxn>
              <a:cxn ang="0">
                <a:pos x="connisteX18" y="connsiteY18"/>
              </a:cxn>
              <a:cxn ang="0">
                <a:pos x="connisteX19" y="connsiteY19"/>
              </a:cxn>
              <a:cxn ang="0">
                <a:pos x="connisteX20" y="connsiteY20"/>
              </a:cxn>
              <a:cxn ang="0">
                <a:pos x="connisteX21" y="connsiteY21"/>
              </a:cxn>
              <a:cxn ang="0">
                <a:pos x="connisteX22" y="connsiteY22"/>
              </a:cxn>
              <a:cxn ang="0">
                <a:pos x="connisteX23" y="connsiteY23"/>
              </a:cxn>
              <a:cxn ang="0">
                <a:pos x="connisteX24" y="connsiteY24"/>
              </a:cxn>
              <a:cxn ang="0">
                <a:pos x="connisteX25" y="connsiteY25"/>
              </a:cxn>
              <a:cxn ang="0">
                <a:pos x="connisteX26" y="connsiteY26"/>
              </a:cxn>
              <a:cxn ang="0">
                <a:pos x="connisteX27" y="connsiteY27"/>
              </a:cxn>
              <a:cxn ang="0">
                <a:pos x="connisteX28" y="connsiteY28"/>
              </a:cxn>
              <a:cxn ang="0">
                <a:pos x="connisteX29" y="connsiteY29"/>
              </a:cxn>
              <a:cxn ang="0">
                <a:pos x="connisteX30" y="connsiteY30"/>
              </a:cxn>
              <a:cxn ang="0">
                <a:pos x="connisteX31" y="connsiteY31"/>
              </a:cxn>
              <a:cxn ang="0">
                <a:pos x="connisteX32" y="connsiteY32"/>
              </a:cxn>
              <a:cxn ang="0">
                <a:pos x="connisteX33" y="connsiteY33"/>
              </a:cxn>
              <a:cxn ang="0">
                <a:pos x="connisteX34" y="connsiteY34"/>
              </a:cxn>
              <a:cxn ang="0">
                <a:pos x="connisteX35" y="connsiteY35"/>
              </a:cxn>
              <a:cxn ang="0">
                <a:pos x="connisteX36" y="connsiteY36"/>
              </a:cxn>
              <a:cxn ang="0">
                <a:pos x="connisteX37" y="connsiteY37"/>
              </a:cxn>
              <a:cxn ang="0">
                <a:pos x="connisteX38" y="connsiteY38"/>
              </a:cxn>
              <a:cxn ang="0">
                <a:pos x="connisteX39" y="connsiteY39"/>
              </a:cxn>
              <a:cxn ang="0">
                <a:pos x="connisteX40" y="connsiteY40"/>
              </a:cxn>
              <a:cxn ang="0">
                <a:pos x="connisteX41" y="connsiteY41"/>
              </a:cxn>
              <a:cxn ang="0">
                <a:pos x="connisteX42" y="connsiteY42"/>
              </a:cxn>
              <a:cxn ang="0">
                <a:pos x="connisteX43" y="connsiteY43"/>
              </a:cxn>
              <a:cxn ang="0">
                <a:pos x="connisteX44" y="connsiteY44"/>
              </a:cxn>
              <a:cxn ang="0">
                <a:pos x="connisteX45" y="connsiteY45"/>
              </a:cxn>
              <a:cxn ang="0">
                <a:pos x="connisteX46" y="connsiteY46"/>
              </a:cxn>
              <a:cxn ang="0">
                <a:pos x="connisteX47" y="connsiteY47"/>
              </a:cxn>
              <a:cxn ang="0">
                <a:pos x="connisteX48" y="connsiteY48"/>
              </a:cxn>
              <a:cxn ang="0">
                <a:pos x="connisteX49" y="connsiteY49"/>
              </a:cxn>
              <a:cxn ang="0">
                <a:pos x="connisteX50" y="connsiteY50"/>
              </a:cxn>
              <a:cxn ang="0">
                <a:pos x="connisteX51" y="connsiteY51"/>
              </a:cxn>
              <a:cxn ang="0">
                <a:pos x="connisteX52" y="connsiteY52"/>
              </a:cxn>
              <a:cxn ang="0">
                <a:pos x="connisteX53" y="connsiteY53"/>
              </a:cxn>
              <a:cxn ang="0">
                <a:pos x="connisteX54" y="connsiteY54"/>
              </a:cxn>
              <a:cxn ang="0">
                <a:pos x="connisteX55" y="connsiteY55"/>
              </a:cxn>
              <a:cxn ang="0">
                <a:pos x="connisteX56" y="connsiteY56"/>
              </a:cxn>
              <a:cxn ang="0">
                <a:pos x="connisteX57" y="connsiteY57"/>
              </a:cxn>
              <a:cxn ang="0">
                <a:pos x="connisteX58" y="connsiteY58"/>
              </a:cxn>
              <a:cxn ang="0">
                <a:pos x="connisteX59" y="connsiteY59"/>
              </a:cxn>
              <a:cxn ang="0">
                <a:pos x="connisteX60" y="connsiteY60"/>
              </a:cxn>
              <a:cxn ang="0">
                <a:pos x="connisteX61" y="connsiteY61"/>
              </a:cxn>
              <a:cxn ang="0">
                <a:pos x="connisteX62" y="connsiteY62"/>
              </a:cxn>
              <a:cxn ang="0">
                <a:pos x="connisteX63" y="connsiteY63"/>
              </a:cxn>
              <a:cxn ang="0">
                <a:pos x="connisteX64" y="connsiteY64"/>
              </a:cxn>
              <a:cxn ang="0">
                <a:pos x="connisteX65" y="connsiteY65"/>
              </a:cxn>
              <a:cxn ang="0">
                <a:pos x="connisteX66" y="connsiteY66"/>
              </a:cxn>
              <a:cxn ang="0">
                <a:pos x="connisteX67" y="connsiteY67"/>
              </a:cxn>
              <a:cxn ang="0">
                <a:pos x="connisteX68" y="connsiteY68"/>
              </a:cxn>
              <a:cxn ang="0">
                <a:pos x="connisteX69" y="connsiteY69"/>
              </a:cxn>
              <a:cxn ang="0">
                <a:pos x="connisteX70" y="connsiteY70"/>
              </a:cxn>
              <a:cxn ang="0">
                <a:pos x="connisteX71" y="connsiteY71"/>
              </a:cxn>
              <a:cxn ang="0">
                <a:pos x="connisteX72" y="connsiteY72"/>
              </a:cxn>
              <a:cxn ang="0">
                <a:pos x="connisteX73" y="connsiteY73"/>
              </a:cxn>
              <a:cxn ang="0">
                <a:pos x="connisteX74" y="connsiteY74"/>
              </a:cxn>
              <a:cxn ang="0">
                <a:pos x="connisteX75" y="connsiteY75"/>
              </a:cxn>
              <a:cxn ang="0">
                <a:pos x="connisteX76" y="connsiteY76"/>
              </a:cxn>
              <a:cxn ang="0">
                <a:pos x="connisteX77" y="connsiteY77"/>
              </a:cxn>
              <a:cxn ang="0">
                <a:pos x="connisteX78" y="connsiteY78"/>
              </a:cxn>
              <a:cxn ang="0">
                <a:pos x="connisteX79" y="connsiteY79"/>
              </a:cxn>
              <a:cxn ang="0">
                <a:pos x="connisteX80" y="connsiteY80"/>
              </a:cxn>
              <a:cxn ang="0">
                <a:pos x="connisteX81" y="connsiteY81"/>
              </a:cxn>
              <a:cxn ang="0">
                <a:pos x="connisteX82" y="connsiteY82"/>
              </a:cxn>
              <a:cxn ang="0">
                <a:pos x="connisteX83" y="connsiteY83"/>
              </a:cxn>
              <a:cxn ang="0">
                <a:pos x="connisteX84" y="connsiteY84"/>
              </a:cxn>
              <a:cxn ang="0">
                <a:pos x="connisteX85" y="connsiteY85"/>
              </a:cxn>
              <a:cxn ang="0">
                <a:pos x="connisteX86" y="connsiteY86"/>
              </a:cxn>
              <a:cxn ang="0">
                <a:pos x="connisteX87" y="connsiteY87"/>
              </a:cxn>
              <a:cxn ang="0">
                <a:pos x="connisteX88" y="connsiteY88"/>
              </a:cxn>
              <a:cxn ang="0">
                <a:pos x="connisteX89" y="connsiteY89"/>
              </a:cxn>
              <a:cxn ang="0">
                <a:pos x="connisteX90" y="connsiteY90"/>
              </a:cxn>
              <a:cxn ang="0">
                <a:pos x="connisteX91" y="connsiteY91"/>
              </a:cxn>
              <a:cxn ang="0">
                <a:pos x="connisteX92" y="connsiteY92"/>
              </a:cxn>
              <a:cxn ang="0">
                <a:pos x="connisteX93" y="connsiteY93"/>
              </a:cxn>
              <a:cxn ang="0">
                <a:pos x="connisteX94" y="connsiteY94"/>
              </a:cxn>
              <a:cxn ang="0">
                <a:pos x="connisteX95" y="connsiteY95"/>
              </a:cxn>
              <a:cxn ang="0">
                <a:pos x="connisteX96" y="connsiteY96"/>
              </a:cxn>
              <a:cxn ang="0">
                <a:pos x="connisteX97" y="connsiteY97"/>
              </a:cxn>
              <a:cxn ang="0">
                <a:pos x="connisteX98" y="connsiteY98"/>
              </a:cxn>
              <a:cxn ang="0">
                <a:pos x="connisteX99" y="connsiteY99"/>
              </a:cxn>
              <a:cxn ang="0">
                <a:pos x="connisteX100" y="connsiteY100"/>
              </a:cxn>
              <a:cxn ang="0">
                <a:pos x="connisteX101" y="connsiteY101"/>
              </a:cxn>
              <a:cxn ang="0">
                <a:pos x="connisteX102" y="connsiteY102"/>
              </a:cxn>
              <a:cxn ang="0">
                <a:pos x="connisteX103" y="connsiteY103"/>
              </a:cxn>
              <a:cxn ang="0">
                <a:pos x="connisteX104" y="connsiteY104"/>
              </a:cxn>
              <a:cxn ang="0">
                <a:pos x="connisteX105" y="connsiteY105"/>
              </a:cxn>
              <a:cxn ang="0">
                <a:pos x="connisteX106" y="connsiteY106"/>
              </a:cxn>
              <a:cxn ang="0">
                <a:pos x="connisteX107" y="connsiteY107"/>
              </a:cxn>
              <a:cxn ang="0">
                <a:pos x="connisteX108" y="connsiteY108"/>
              </a:cxn>
              <a:cxn ang="0">
                <a:pos x="connisteX109" y="connsiteY109"/>
              </a:cxn>
            </a:cxnLst>
            <a:rect l="l" t="t" r="r" b="b"/>
            <a:pathLst>
              <a:path w="2654300" h="462915">
                <a:moveTo>
                  <a:pt x="0" y="241935"/>
                </a:moveTo>
                <a:lnTo>
                  <a:pt x="17780" y="186055"/>
                </a:lnTo>
                <a:lnTo>
                  <a:pt x="43180" y="298450"/>
                </a:lnTo>
                <a:lnTo>
                  <a:pt x="69215" y="146685"/>
                </a:lnTo>
                <a:lnTo>
                  <a:pt x="95250" y="320040"/>
                </a:lnTo>
                <a:lnTo>
                  <a:pt x="116840" y="138430"/>
                </a:lnTo>
                <a:lnTo>
                  <a:pt x="138430" y="328930"/>
                </a:lnTo>
                <a:lnTo>
                  <a:pt x="168910" y="121285"/>
                </a:lnTo>
                <a:lnTo>
                  <a:pt x="199390" y="346075"/>
                </a:lnTo>
                <a:lnTo>
                  <a:pt x="216535" y="107950"/>
                </a:lnTo>
                <a:lnTo>
                  <a:pt x="242570" y="346075"/>
                </a:lnTo>
                <a:lnTo>
                  <a:pt x="268605" y="86360"/>
                </a:lnTo>
                <a:lnTo>
                  <a:pt x="285750" y="393700"/>
                </a:lnTo>
                <a:lnTo>
                  <a:pt x="325120" y="51435"/>
                </a:lnTo>
                <a:lnTo>
                  <a:pt x="342265" y="424180"/>
                </a:lnTo>
                <a:lnTo>
                  <a:pt x="363855" y="69215"/>
                </a:lnTo>
                <a:lnTo>
                  <a:pt x="394335" y="393700"/>
                </a:lnTo>
                <a:lnTo>
                  <a:pt x="420370" y="95250"/>
                </a:lnTo>
                <a:lnTo>
                  <a:pt x="441960" y="393700"/>
                </a:lnTo>
                <a:lnTo>
                  <a:pt x="467995" y="90805"/>
                </a:lnTo>
                <a:lnTo>
                  <a:pt x="494030" y="367665"/>
                </a:lnTo>
                <a:lnTo>
                  <a:pt x="515620" y="95250"/>
                </a:lnTo>
                <a:lnTo>
                  <a:pt x="545465" y="324485"/>
                </a:lnTo>
                <a:lnTo>
                  <a:pt x="571500" y="146685"/>
                </a:lnTo>
                <a:lnTo>
                  <a:pt x="593090" y="302895"/>
                </a:lnTo>
                <a:lnTo>
                  <a:pt x="614680" y="177165"/>
                </a:lnTo>
                <a:lnTo>
                  <a:pt x="645160" y="241935"/>
                </a:lnTo>
                <a:lnTo>
                  <a:pt x="666750" y="190500"/>
                </a:lnTo>
                <a:lnTo>
                  <a:pt x="692785" y="328930"/>
                </a:lnTo>
                <a:lnTo>
                  <a:pt x="714375" y="112395"/>
                </a:lnTo>
                <a:lnTo>
                  <a:pt x="740410" y="341630"/>
                </a:lnTo>
                <a:lnTo>
                  <a:pt x="757555" y="116840"/>
                </a:lnTo>
                <a:lnTo>
                  <a:pt x="783590" y="363220"/>
                </a:lnTo>
                <a:lnTo>
                  <a:pt x="814070" y="95250"/>
                </a:lnTo>
                <a:lnTo>
                  <a:pt x="840105" y="367665"/>
                </a:lnTo>
                <a:lnTo>
                  <a:pt x="861695" y="116840"/>
                </a:lnTo>
                <a:lnTo>
                  <a:pt x="887730" y="359410"/>
                </a:lnTo>
                <a:lnTo>
                  <a:pt x="918210" y="116840"/>
                </a:lnTo>
                <a:lnTo>
                  <a:pt x="939800" y="320040"/>
                </a:lnTo>
                <a:lnTo>
                  <a:pt x="965835" y="172720"/>
                </a:lnTo>
                <a:lnTo>
                  <a:pt x="991870" y="333375"/>
                </a:lnTo>
                <a:lnTo>
                  <a:pt x="1013460" y="190500"/>
                </a:lnTo>
                <a:lnTo>
                  <a:pt x="1035050" y="285750"/>
                </a:lnTo>
                <a:lnTo>
                  <a:pt x="1056640" y="212090"/>
                </a:lnTo>
                <a:lnTo>
                  <a:pt x="1087120" y="267970"/>
                </a:lnTo>
                <a:lnTo>
                  <a:pt x="1116965" y="142875"/>
                </a:lnTo>
                <a:lnTo>
                  <a:pt x="1138555" y="333375"/>
                </a:lnTo>
                <a:lnTo>
                  <a:pt x="1156335" y="142875"/>
                </a:lnTo>
                <a:lnTo>
                  <a:pt x="1182370" y="302895"/>
                </a:lnTo>
                <a:lnTo>
                  <a:pt x="1203960" y="160020"/>
                </a:lnTo>
                <a:lnTo>
                  <a:pt x="1233805" y="281305"/>
                </a:lnTo>
                <a:lnTo>
                  <a:pt x="1256030" y="220345"/>
                </a:lnTo>
                <a:lnTo>
                  <a:pt x="1285875" y="264160"/>
                </a:lnTo>
                <a:lnTo>
                  <a:pt x="1311910" y="194310"/>
                </a:lnTo>
                <a:lnTo>
                  <a:pt x="1329055" y="259715"/>
                </a:lnTo>
                <a:lnTo>
                  <a:pt x="1337945" y="207645"/>
                </a:lnTo>
                <a:lnTo>
                  <a:pt x="1368425" y="250825"/>
                </a:lnTo>
                <a:lnTo>
                  <a:pt x="1394460" y="207645"/>
                </a:lnTo>
                <a:lnTo>
                  <a:pt x="1416050" y="281305"/>
                </a:lnTo>
                <a:lnTo>
                  <a:pt x="1442085" y="181610"/>
                </a:lnTo>
                <a:lnTo>
                  <a:pt x="1468120" y="276860"/>
                </a:lnTo>
                <a:lnTo>
                  <a:pt x="1485265" y="203200"/>
                </a:lnTo>
                <a:lnTo>
                  <a:pt x="1506855" y="241935"/>
                </a:lnTo>
                <a:lnTo>
                  <a:pt x="1528445" y="216535"/>
                </a:lnTo>
                <a:lnTo>
                  <a:pt x="1567180" y="267970"/>
                </a:lnTo>
                <a:lnTo>
                  <a:pt x="1584960" y="164465"/>
                </a:lnTo>
                <a:lnTo>
                  <a:pt x="1606550" y="307340"/>
                </a:lnTo>
                <a:lnTo>
                  <a:pt x="1640840" y="133985"/>
                </a:lnTo>
                <a:lnTo>
                  <a:pt x="1666875" y="333375"/>
                </a:lnTo>
                <a:lnTo>
                  <a:pt x="1684655" y="172720"/>
                </a:lnTo>
                <a:lnTo>
                  <a:pt x="1714500" y="272415"/>
                </a:lnTo>
                <a:lnTo>
                  <a:pt x="1736090" y="172720"/>
                </a:lnTo>
                <a:lnTo>
                  <a:pt x="1757680" y="276860"/>
                </a:lnTo>
                <a:lnTo>
                  <a:pt x="1779905" y="198755"/>
                </a:lnTo>
                <a:lnTo>
                  <a:pt x="1805305" y="272415"/>
                </a:lnTo>
                <a:lnTo>
                  <a:pt x="1827530" y="121285"/>
                </a:lnTo>
                <a:lnTo>
                  <a:pt x="1849120" y="346075"/>
                </a:lnTo>
                <a:lnTo>
                  <a:pt x="1883410" y="121285"/>
                </a:lnTo>
                <a:lnTo>
                  <a:pt x="1900555" y="367665"/>
                </a:lnTo>
                <a:lnTo>
                  <a:pt x="1922780" y="73660"/>
                </a:lnTo>
                <a:lnTo>
                  <a:pt x="1961515" y="410845"/>
                </a:lnTo>
                <a:lnTo>
                  <a:pt x="1978660" y="26035"/>
                </a:lnTo>
                <a:lnTo>
                  <a:pt x="2004695" y="462915"/>
                </a:lnTo>
                <a:lnTo>
                  <a:pt x="2030730" y="0"/>
                </a:lnTo>
                <a:lnTo>
                  <a:pt x="2052320" y="432435"/>
                </a:lnTo>
                <a:lnTo>
                  <a:pt x="2078355" y="99060"/>
                </a:lnTo>
                <a:lnTo>
                  <a:pt x="2108835" y="302895"/>
                </a:lnTo>
                <a:lnTo>
                  <a:pt x="2125980" y="181610"/>
                </a:lnTo>
                <a:lnTo>
                  <a:pt x="2152015" y="307340"/>
                </a:lnTo>
                <a:lnTo>
                  <a:pt x="2182495" y="103505"/>
                </a:lnTo>
                <a:lnTo>
                  <a:pt x="2204085" y="410845"/>
                </a:lnTo>
                <a:lnTo>
                  <a:pt x="2225675" y="38735"/>
                </a:lnTo>
                <a:lnTo>
                  <a:pt x="2259965" y="415290"/>
                </a:lnTo>
                <a:lnTo>
                  <a:pt x="2273300" y="60325"/>
                </a:lnTo>
                <a:lnTo>
                  <a:pt x="2299335" y="376555"/>
                </a:lnTo>
                <a:lnTo>
                  <a:pt x="2333625" y="73660"/>
                </a:lnTo>
                <a:lnTo>
                  <a:pt x="2359660" y="376555"/>
                </a:lnTo>
                <a:lnTo>
                  <a:pt x="2372995" y="103505"/>
                </a:lnTo>
                <a:lnTo>
                  <a:pt x="2402840" y="328930"/>
                </a:lnTo>
                <a:lnTo>
                  <a:pt x="2428875" y="116840"/>
                </a:lnTo>
                <a:lnTo>
                  <a:pt x="2459355" y="320040"/>
                </a:lnTo>
                <a:lnTo>
                  <a:pt x="2476500" y="160020"/>
                </a:lnTo>
                <a:lnTo>
                  <a:pt x="2506980" y="315595"/>
                </a:lnTo>
                <a:lnTo>
                  <a:pt x="2528570" y="190500"/>
                </a:lnTo>
                <a:lnTo>
                  <a:pt x="2541905" y="298450"/>
                </a:lnTo>
                <a:lnTo>
                  <a:pt x="2571750" y="99060"/>
                </a:lnTo>
                <a:lnTo>
                  <a:pt x="2611120" y="384810"/>
                </a:lnTo>
                <a:lnTo>
                  <a:pt x="2628265" y="164465"/>
                </a:lnTo>
                <a:lnTo>
                  <a:pt x="2645410" y="216535"/>
                </a:lnTo>
                <a:lnTo>
                  <a:pt x="2654300" y="220345"/>
                </a:lnTo>
              </a:path>
            </a:pathLst>
          </a:custGeom>
          <a:noFill/>
          <a:ln>
            <a:solidFill>
              <a:srgbClr val="D4772F"/>
            </a:solidFill>
            <a:round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7" name="任意多边形 186"/>
          <p:cNvSpPr/>
          <p:nvPr/>
        </p:nvSpPr>
        <p:spPr>
          <a:xfrm>
            <a:off x="956945" y="5512178"/>
            <a:ext cx="2628265" cy="541082"/>
          </a:xfrm>
          <a:custGeom>
            <a:avLst/>
            <a:gdLst>
              <a:gd name="connsiteX0" fmla="*/ 0 w 4139"/>
              <a:gd name="connsiteY0" fmla="*/ 832 h 852"/>
              <a:gd name="connsiteX1" fmla="*/ 702 w 4139"/>
              <a:gd name="connsiteY1" fmla="*/ 89 h 852"/>
              <a:gd name="connsiteX2" fmla="*/ 1397 w 4139"/>
              <a:gd name="connsiteY2" fmla="*/ 655 h 852"/>
              <a:gd name="connsiteX3" fmla="*/ 2099 w 4139"/>
              <a:gd name="connsiteY3" fmla="*/ 301 h 852"/>
              <a:gd name="connsiteX4" fmla="*/ 2761 w 4139"/>
              <a:gd name="connsiteY4" fmla="*/ 648 h 852"/>
              <a:gd name="connsiteX5" fmla="*/ 3321 w 4139"/>
              <a:gd name="connsiteY5" fmla="*/ 0 h 852"/>
              <a:gd name="connsiteX6" fmla="*/ 3735 w 4139"/>
              <a:gd name="connsiteY6" fmla="*/ 504 h 852"/>
              <a:gd name="connsiteX7" fmla="*/ 4139 w 4139"/>
              <a:gd name="connsiteY7" fmla="*/ 852 h 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139" h="852">
                <a:moveTo>
                  <a:pt x="0" y="832"/>
                </a:moveTo>
                <a:cubicBezTo>
                  <a:pt x="126" y="671"/>
                  <a:pt x="510" y="103"/>
                  <a:pt x="702" y="89"/>
                </a:cubicBezTo>
                <a:cubicBezTo>
                  <a:pt x="894" y="75"/>
                  <a:pt x="1150" y="560"/>
                  <a:pt x="1397" y="655"/>
                </a:cubicBezTo>
                <a:cubicBezTo>
                  <a:pt x="1644" y="750"/>
                  <a:pt x="1840" y="295"/>
                  <a:pt x="2099" y="301"/>
                </a:cubicBezTo>
                <a:cubicBezTo>
                  <a:pt x="2358" y="307"/>
                  <a:pt x="2516" y="633"/>
                  <a:pt x="2761" y="648"/>
                </a:cubicBezTo>
                <a:cubicBezTo>
                  <a:pt x="3006" y="663"/>
                  <a:pt x="3132" y="7"/>
                  <a:pt x="3321" y="0"/>
                </a:cubicBezTo>
                <a:cubicBezTo>
                  <a:pt x="3510" y="-7"/>
                  <a:pt x="3599" y="362"/>
                  <a:pt x="3735" y="504"/>
                </a:cubicBezTo>
                <a:cubicBezTo>
                  <a:pt x="3871" y="646"/>
                  <a:pt x="4072" y="794"/>
                  <a:pt x="4139" y="852"/>
                </a:cubicBezTo>
              </a:path>
            </a:pathLst>
          </a:custGeom>
          <a:noFill/>
          <a:ln w="19050"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9" name="文本框 188"/>
          <p:cNvSpPr txBox="1"/>
          <p:nvPr/>
        </p:nvSpPr>
        <p:spPr>
          <a:xfrm>
            <a:off x="1351915" y="4854575"/>
            <a:ext cx="20891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1400" b="1" i="1"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Freq Decomposition</a:t>
            </a:r>
            <a:endParaRPr lang="en-US" sz="1400" b="1" i="1"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</p:txBody>
      </p:sp>
      <p:cxnSp>
        <p:nvCxnSpPr>
          <p:cNvPr id="190" name="直接箭头连接符 189"/>
          <p:cNvCxnSpPr/>
          <p:nvPr/>
        </p:nvCxnSpPr>
        <p:spPr>
          <a:xfrm>
            <a:off x="944245" y="6624955"/>
            <a:ext cx="2706370" cy="1333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1" name="直接箭头连接符 190"/>
          <p:cNvCxnSpPr/>
          <p:nvPr/>
        </p:nvCxnSpPr>
        <p:spPr>
          <a:xfrm flipH="1" flipV="1">
            <a:off x="949008" y="5243513"/>
            <a:ext cx="2540" cy="139446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2" name="文本框 191"/>
          <p:cNvSpPr txBox="1"/>
          <p:nvPr/>
        </p:nvSpPr>
        <p:spPr>
          <a:xfrm>
            <a:off x="1798320" y="5186680"/>
            <a:ext cx="101727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900"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GaussLowFass</a:t>
            </a:r>
            <a:endParaRPr lang="en-US" sz="900"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194" name="文本框 193"/>
          <p:cNvSpPr txBox="1"/>
          <p:nvPr/>
        </p:nvSpPr>
        <p:spPr>
          <a:xfrm>
            <a:off x="927735" y="5260975"/>
            <a:ext cx="42418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900">
                <a:solidFill>
                  <a:srgbClr val="7F7F8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Raw</a:t>
            </a:r>
            <a:endParaRPr lang="en-US" sz="900">
              <a:solidFill>
                <a:srgbClr val="7F7F80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195" name="文本框 194"/>
          <p:cNvSpPr txBox="1"/>
          <p:nvPr/>
        </p:nvSpPr>
        <p:spPr>
          <a:xfrm>
            <a:off x="927735" y="5972175"/>
            <a:ext cx="65532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900">
                <a:solidFill>
                  <a:srgbClr val="D4772F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Residual</a:t>
            </a:r>
            <a:endParaRPr lang="en-US" sz="900">
              <a:solidFill>
                <a:srgbClr val="D4772F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</p:txBody>
      </p:sp>
      <p:cxnSp>
        <p:nvCxnSpPr>
          <p:cNvPr id="196" name="直接箭头连接符 195"/>
          <p:cNvCxnSpPr/>
          <p:nvPr/>
        </p:nvCxnSpPr>
        <p:spPr>
          <a:xfrm flipH="1" flipV="1">
            <a:off x="1847533" y="5230178"/>
            <a:ext cx="2540" cy="1394460"/>
          </a:xfrm>
          <a:prstGeom prst="straightConnector1">
            <a:avLst/>
          </a:prstGeom>
          <a:ln w="12700" cmpd="sng">
            <a:solidFill>
              <a:schemeClr val="tx1"/>
            </a:solidFill>
            <a:prstDash val="dash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7" name="直接箭头连接符 196"/>
          <p:cNvCxnSpPr/>
          <p:nvPr/>
        </p:nvCxnSpPr>
        <p:spPr>
          <a:xfrm flipH="1" flipV="1">
            <a:off x="2762568" y="5227003"/>
            <a:ext cx="2540" cy="1394460"/>
          </a:xfrm>
          <a:prstGeom prst="straightConnector1">
            <a:avLst/>
          </a:prstGeom>
          <a:ln w="12700" cmpd="sng">
            <a:solidFill>
              <a:schemeClr val="tx1"/>
            </a:solidFill>
            <a:prstDash val="dash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5" name="任意多边形 204"/>
          <p:cNvSpPr/>
          <p:nvPr/>
        </p:nvSpPr>
        <p:spPr>
          <a:xfrm>
            <a:off x="3233420" y="5307330"/>
            <a:ext cx="734695" cy="455930"/>
          </a:xfrm>
          <a:custGeom>
            <a:avLst/>
            <a:gdLst>
              <a:gd name="connisteX0" fmla="*/ 360680 w 734695"/>
              <a:gd name="connsiteY0" fmla="*/ 0 h 455930"/>
              <a:gd name="connisteX1" fmla="*/ 0 w 734695"/>
              <a:gd name="connsiteY1" fmla="*/ 220980 h 455930"/>
              <a:gd name="connisteX2" fmla="*/ 367665 w 734695"/>
              <a:gd name="connsiteY2" fmla="*/ 455930 h 455930"/>
              <a:gd name="connisteX3" fmla="*/ 734695 w 734695"/>
              <a:gd name="connsiteY3" fmla="*/ 217805 h 455930"/>
              <a:gd name="connisteX4" fmla="*/ 360680 w 734695"/>
              <a:gd name="connsiteY4" fmla="*/ 0 h 45593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734695" h="455930">
                <a:moveTo>
                  <a:pt x="360680" y="0"/>
                </a:moveTo>
                <a:lnTo>
                  <a:pt x="0" y="220980"/>
                </a:lnTo>
                <a:lnTo>
                  <a:pt x="367665" y="455930"/>
                </a:lnTo>
                <a:lnTo>
                  <a:pt x="734695" y="217805"/>
                </a:lnTo>
                <a:lnTo>
                  <a:pt x="360680" y="0"/>
                </a:lnTo>
                <a:close/>
              </a:path>
            </a:pathLst>
          </a:custGeom>
          <a:solidFill>
            <a:srgbClr val="F4FBFD"/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8" name="文本框 197"/>
          <p:cNvSpPr txBox="1"/>
          <p:nvPr/>
        </p:nvSpPr>
        <p:spPr>
          <a:xfrm>
            <a:off x="3553460" y="6496685"/>
            <a:ext cx="50228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Time</a:t>
            </a:r>
            <a:endParaRPr lang="en-US" sz="9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204" name="椭圆 203"/>
          <p:cNvSpPr/>
          <p:nvPr/>
        </p:nvSpPr>
        <p:spPr>
          <a:xfrm>
            <a:off x="3368040" y="5397500"/>
            <a:ext cx="469900" cy="269240"/>
          </a:xfrm>
          <a:prstGeom prst="ellipse">
            <a:avLst/>
          </a:prstGeom>
          <a:solidFill>
            <a:srgbClr val="DEE7EF"/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3" name="椭圆 202"/>
          <p:cNvSpPr/>
          <p:nvPr/>
        </p:nvSpPr>
        <p:spPr>
          <a:xfrm>
            <a:off x="3399790" y="5408930"/>
            <a:ext cx="405765" cy="230505"/>
          </a:xfrm>
          <a:prstGeom prst="ellipse">
            <a:avLst/>
          </a:prstGeom>
          <a:solidFill>
            <a:srgbClr val="DEE7EF"/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2" name="椭圆 201"/>
          <p:cNvSpPr/>
          <p:nvPr/>
        </p:nvSpPr>
        <p:spPr>
          <a:xfrm>
            <a:off x="3434715" y="5416550"/>
            <a:ext cx="335915" cy="191135"/>
          </a:xfrm>
          <a:prstGeom prst="ellipse">
            <a:avLst/>
          </a:prstGeom>
          <a:solidFill>
            <a:srgbClr val="C7D7F1"/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1" name="椭圆 200"/>
          <p:cNvSpPr/>
          <p:nvPr/>
        </p:nvSpPr>
        <p:spPr>
          <a:xfrm>
            <a:off x="3463290" y="5422900"/>
            <a:ext cx="278765" cy="156845"/>
          </a:xfrm>
          <a:prstGeom prst="ellipse">
            <a:avLst/>
          </a:prstGeom>
          <a:solidFill>
            <a:srgbClr val="9FB6E3"/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9" name="任意多边形 198"/>
          <p:cNvSpPr/>
          <p:nvPr/>
        </p:nvSpPr>
        <p:spPr>
          <a:xfrm>
            <a:off x="3496628" y="5207607"/>
            <a:ext cx="212090" cy="334673"/>
          </a:xfrm>
          <a:custGeom>
            <a:avLst/>
            <a:gdLst>
              <a:gd name="connsiteX0" fmla="*/ 0 w 300"/>
              <a:gd name="connsiteY0" fmla="*/ 388 h 409"/>
              <a:gd name="connsiteX1" fmla="*/ 137 w 300"/>
              <a:gd name="connsiteY1" fmla="*/ 0 h 409"/>
              <a:gd name="connsiteX2" fmla="*/ 300 w 300"/>
              <a:gd name="connsiteY2" fmla="*/ 409 h 409"/>
              <a:gd name="connsiteX3" fmla="*/ 0 w 300"/>
              <a:gd name="connsiteY3" fmla="*/ 388 h 4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4" h="527">
                <a:moveTo>
                  <a:pt x="159" y="0"/>
                </a:moveTo>
                <a:cubicBezTo>
                  <a:pt x="208" y="4"/>
                  <a:pt x="265" y="241"/>
                  <a:pt x="301" y="384"/>
                </a:cubicBezTo>
                <a:lnTo>
                  <a:pt x="303" y="393"/>
                </a:lnTo>
                <a:lnTo>
                  <a:pt x="305" y="395"/>
                </a:lnTo>
                <a:cubicBezTo>
                  <a:pt x="323" y="408"/>
                  <a:pt x="334" y="424"/>
                  <a:pt x="334" y="442"/>
                </a:cubicBezTo>
                <a:cubicBezTo>
                  <a:pt x="334" y="489"/>
                  <a:pt x="259" y="527"/>
                  <a:pt x="167" y="527"/>
                </a:cubicBezTo>
                <a:cubicBezTo>
                  <a:pt x="75" y="527"/>
                  <a:pt x="0" y="489"/>
                  <a:pt x="0" y="442"/>
                </a:cubicBezTo>
                <a:cubicBezTo>
                  <a:pt x="0" y="424"/>
                  <a:pt x="11" y="408"/>
                  <a:pt x="29" y="395"/>
                </a:cubicBezTo>
                <a:lnTo>
                  <a:pt x="33" y="392"/>
                </a:lnTo>
                <a:lnTo>
                  <a:pt x="35" y="379"/>
                </a:lnTo>
                <a:cubicBezTo>
                  <a:pt x="63" y="243"/>
                  <a:pt x="108" y="-4"/>
                  <a:pt x="159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21000">
                <a:srgbClr val="3C74A3"/>
              </a:gs>
              <a:gs pos="76000">
                <a:srgbClr val="D4772F"/>
              </a:gs>
              <a:gs pos="48000">
                <a:srgbClr val="7F7664"/>
              </a:gs>
              <a:gs pos="100000">
                <a:schemeClr val="accent3"/>
              </a:gs>
            </a:gsLst>
            <a:lin ang="16200000" scaled="0"/>
          </a:gra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0"/>
              </a:gradFill>
            </a:endParaRPr>
          </a:p>
        </p:txBody>
      </p:sp>
      <p:sp>
        <p:nvSpPr>
          <p:cNvPr id="211" name="圆角矩形 210"/>
          <p:cNvSpPr/>
          <p:nvPr/>
        </p:nvSpPr>
        <p:spPr>
          <a:xfrm>
            <a:off x="484505" y="4854575"/>
            <a:ext cx="9940925" cy="1950085"/>
          </a:xfrm>
          <a:prstGeom prst="roundRect">
            <a:avLst>
              <a:gd name="adj" fmla="val 6036"/>
            </a:avLst>
          </a:prstGeom>
          <a:noFill/>
          <a:ln w="12700" cmpd="sng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t" anchorCtr="0"/>
          <a:p>
            <a:pPr algn="ctr"/>
            <a:endParaRPr lang="en-US" altLang="zh-CN" sz="1600" b="1" i="1">
              <a:solidFill>
                <a:schemeClr val="accent1">
                  <a:lumMod val="50000"/>
                </a:schemeClr>
              </a:solidFill>
            </a:endParaRPr>
          </a:p>
        </p:txBody>
      </p:sp>
      <p:grpSp>
        <p:nvGrpSpPr>
          <p:cNvPr id="235" name="组合 234"/>
          <p:cNvGrpSpPr/>
          <p:nvPr/>
        </p:nvGrpSpPr>
        <p:grpSpPr>
          <a:xfrm>
            <a:off x="607060" y="2072640"/>
            <a:ext cx="499745" cy="414020"/>
            <a:chOff x="786" y="2800"/>
            <a:chExt cx="787" cy="652"/>
          </a:xfrm>
        </p:grpSpPr>
        <p:pic>
          <p:nvPicPr>
            <p:cNvPr id="236" name="图片 235" descr="7e533b2c67d9cb4b025c13bb6513ccc9(2)"/>
            <p:cNvPicPr>
              <a:picLocks noChangeAspect="1"/>
            </p:cNvPicPr>
            <p:nvPr/>
          </p:nvPicPr>
          <p:blipFill>
            <a:blip r:embed="rId2"/>
            <a:srcRect l="3167" t="31683" r="92337" b="62135"/>
            <a:stretch>
              <a:fillRect/>
            </a:stretch>
          </p:blipFill>
          <p:spPr>
            <a:xfrm>
              <a:off x="888" y="2809"/>
              <a:ext cx="599" cy="643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  <p:grpSp>
          <p:nvGrpSpPr>
            <p:cNvPr id="237" name="组合 236"/>
            <p:cNvGrpSpPr/>
            <p:nvPr/>
          </p:nvGrpSpPr>
          <p:grpSpPr>
            <a:xfrm>
              <a:off x="786" y="2800"/>
              <a:ext cx="96" cy="652"/>
              <a:chOff x="1380" y="1503"/>
              <a:chExt cx="96" cy="652"/>
            </a:xfrm>
          </p:grpSpPr>
          <p:sp>
            <p:nvSpPr>
              <p:cNvPr id="238" name="矩形 237"/>
              <p:cNvSpPr/>
              <p:nvPr/>
            </p:nvSpPr>
            <p:spPr>
              <a:xfrm>
                <a:off x="1380" y="1503"/>
                <a:ext cx="96" cy="653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0">
                <a:srgbClr val="FFFFFF"/>
              </a:lnRef>
              <a:fillRef idx="1">
                <a:prstClr val="black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grpSp>
            <p:nvGrpSpPr>
              <p:cNvPr id="239" name="组合 238"/>
              <p:cNvGrpSpPr/>
              <p:nvPr/>
            </p:nvGrpSpPr>
            <p:grpSpPr>
              <a:xfrm rot="0">
                <a:off x="1400" y="1513"/>
                <a:ext cx="56" cy="633"/>
                <a:chOff x="1292" y="1499"/>
                <a:chExt cx="56" cy="633"/>
              </a:xfrm>
            </p:grpSpPr>
            <p:sp>
              <p:nvSpPr>
                <p:cNvPr id="240" name="矩形 239"/>
                <p:cNvSpPr/>
                <p:nvPr/>
              </p:nvSpPr>
              <p:spPr>
                <a:xfrm>
                  <a:off x="1292" y="1884"/>
                  <a:ext cx="57" cy="5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endParaRPr lang="zh-CN" altLang="en-US">
                    <a:sym typeface="+mn-ea"/>
                  </a:endParaRPr>
                </a:p>
              </p:txBody>
            </p:sp>
            <p:sp>
              <p:nvSpPr>
                <p:cNvPr id="241" name="矩形 240"/>
                <p:cNvSpPr/>
                <p:nvPr/>
              </p:nvSpPr>
              <p:spPr>
                <a:xfrm>
                  <a:off x="1292" y="1980"/>
                  <a:ext cx="57" cy="5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endParaRPr lang="zh-CN" altLang="en-US">
                    <a:sym typeface="+mn-ea"/>
                  </a:endParaRPr>
                </a:p>
              </p:txBody>
            </p:sp>
            <p:sp>
              <p:nvSpPr>
                <p:cNvPr id="242" name="矩形 241"/>
                <p:cNvSpPr/>
                <p:nvPr/>
              </p:nvSpPr>
              <p:spPr>
                <a:xfrm>
                  <a:off x="1292" y="2076"/>
                  <a:ext cx="57" cy="5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endParaRPr lang="zh-CN" altLang="en-US">
                    <a:sym typeface="+mn-ea"/>
                  </a:endParaRPr>
                </a:p>
              </p:txBody>
            </p:sp>
            <p:sp>
              <p:nvSpPr>
                <p:cNvPr id="243" name="矩形 242"/>
                <p:cNvSpPr/>
                <p:nvPr/>
              </p:nvSpPr>
              <p:spPr>
                <a:xfrm>
                  <a:off x="1292" y="1596"/>
                  <a:ext cx="57" cy="5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endParaRPr lang="zh-CN" altLang="en-US">
                    <a:sym typeface="+mn-ea"/>
                  </a:endParaRPr>
                </a:p>
              </p:txBody>
            </p:sp>
            <p:sp>
              <p:nvSpPr>
                <p:cNvPr id="244" name="矩形 243"/>
                <p:cNvSpPr/>
                <p:nvPr/>
              </p:nvSpPr>
              <p:spPr>
                <a:xfrm>
                  <a:off x="1292" y="1692"/>
                  <a:ext cx="57" cy="5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endParaRPr lang="zh-CN" altLang="en-US">
                    <a:sym typeface="+mn-ea"/>
                  </a:endParaRPr>
                </a:p>
              </p:txBody>
            </p:sp>
            <p:sp>
              <p:nvSpPr>
                <p:cNvPr id="245" name="矩形 244"/>
                <p:cNvSpPr/>
                <p:nvPr/>
              </p:nvSpPr>
              <p:spPr>
                <a:xfrm>
                  <a:off x="1292" y="1788"/>
                  <a:ext cx="57" cy="5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endParaRPr lang="zh-CN" altLang="en-US">
                    <a:sym typeface="+mn-ea"/>
                  </a:endParaRPr>
                </a:p>
              </p:txBody>
            </p:sp>
            <p:sp>
              <p:nvSpPr>
                <p:cNvPr id="246" name="矩形 245"/>
                <p:cNvSpPr/>
                <p:nvPr/>
              </p:nvSpPr>
              <p:spPr>
                <a:xfrm>
                  <a:off x="1292" y="1499"/>
                  <a:ext cx="57" cy="5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</p:grpSp>
        </p:grpSp>
        <p:grpSp>
          <p:nvGrpSpPr>
            <p:cNvPr id="247" name="组合 246"/>
            <p:cNvGrpSpPr/>
            <p:nvPr/>
          </p:nvGrpSpPr>
          <p:grpSpPr>
            <a:xfrm>
              <a:off x="1477" y="2800"/>
              <a:ext cx="96" cy="652"/>
              <a:chOff x="1380" y="1503"/>
              <a:chExt cx="96" cy="652"/>
            </a:xfrm>
          </p:grpSpPr>
          <p:sp>
            <p:nvSpPr>
              <p:cNvPr id="248" name="矩形 247"/>
              <p:cNvSpPr/>
              <p:nvPr/>
            </p:nvSpPr>
            <p:spPr>
              <a:xfrm>
                <a:off x="1380" y="1503"/>
                <a:ext cx="96" cy="653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0">
                <a:srgbClr val="FFFFFF"/>
              </a:lnRef>
              <a:fillRef idx="1">
                <a:prstClr val="black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grpSp>
            <p:nvGrpSpPr>
              <p:cNvPr id="249" name="组合 248"/>
              <p:cNvGrpSpPr/>
              <p:nvPr/>
            </p:nvGrpSpPr>
            <p:grpSpPr>
              <a:xfrm rot="0">
                <a:off x="1400" y="1513"/>
                <a:ext cx="56" cy="633"/>
                <a:chOff x="1292" y="1499"/>
                <a:chExt cx="56" cy="633"/>
              </a:xfrm>
            </p:grpSpPr>
            <p:sp>
              <p:nvSpPr>
                <p:cNvPr id="250" name="矩形 249"/>
                <p:cNvSpPr/>
                <p:nvPr/>
              </p:nvSpPr>
              <p:spPr>
                <a:xfrm>
                  <a:off x="1292" y="1884"/>
                  <a:ext cx="57" cy="5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endParaRPr lang="zh-CN" altLang="en-US">
                    <a:sym typeface="+mn-ea"/>
                  </a:endParaRPr>
                </a:p>
              </p:txBody>
            </p:sp>
            <p:sp>
              <p:nvSpPr>
                <p:cNvPr id="251" name="矩形 250"/>
                <p:cNvSpPr/>
                <p:nvPr/>
              </p:nvSpPr>
              <p:spPr>
                <a:xfrm>
                  <a:off x="1292" y="1980"/>
                  <a:ext cx="57" cy="5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endParaRPr lang="zh-CN" altLang="en-US">
                    <a:sym typeface="+mn-ea"/>
                  </a:endParaRPr>
                </a:p>
              </p:txBody>
            </p:sp>
            <p:sp>
              <p:nvSpPr>
                <p:cNvPr id="252" name="矩形 251"/>
                <p:cNvSpPr/>
                <p:nvPr/>
              </p:nvSpPr>
              <p:spPr>
                <a:xfrm>
                  <a:off x="1292" y="2076"/>
                  <a:ext cx="57" cy="5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endParaRPr lang="zh-CN" altLang="en-US">
                    <a:sym typeface="+mn-ea"/>
                  </a:endParaRPr>
                </a:p>
              </p:txBody>
            </p:sp>
            <p:sp>
              <p:nvSpPr>
                <p:cNvPr id="253" name="矩形 252"/>
                <p:cNvSpPr/>
                <p:nvPr/>
              </p:nvSpPr>
              <p:spPr>
                <a:xfrm>
                  <a:off x="1292" y="1596"/>
                  <a:ext cx="57" cy="5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endParaRPr lang="zh-CN" altLang="en-US">
                    <a:sym typeface="+mn-ea"/>
                  </a:endParaRPr>
                </a:p>
              </p:txBody>
            </p:sp>
            <p:sp>
              <p:nvSpPr>
                <p:cNvPr id="254" name="矩形 253"/>
                <p:cNvSpPr/>
                <p:nvPr/>
              </p:nvSpPr>
              <p:spPr>
                <a:xfrm>
                  <a:off x="1292" y="1692"/>
                  <a:ext cx="57" cy="5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endParaRPr lang="zh-CN" altLang="en-US">
                    <a:sym typeface="+mn-ea"/>
                  </a:endParaRPr>
                </a:p>
              </p:txBody>
            </p:sp>
            <p:sp>
              <p:nvSpPr>
                <p:cNvPr id="255" name="矩形 254"/>
                <p:cNvSpPr/>
                <p:nvPr/>
              </p:nvSpPr>
              <p:spPr>
                <a:xfrm>
                  <a:off x="1292" y="1788"/>
                  <a:ext cx="57" cy="5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endParaRPr lang="zh-CN" altLang="en-US">
                    <a:sym typeface="+mn-ea"/>
                  </a:endParaRPr>
                </a:p>
              </p:txBody>
            </p:sp>
            <p:sp>
              <p:nvSpPr>
                <p:cNvPr id="256" name="矩形 255"/>
                <p:cNvSpPr/>
                <p:nvPr/>
              </p:nvSpPr>
              <p:spPr>
                <a:xfrm>
                  <a:off x="1292" y="1499"/>
                  <a:ext cx="57" cy="5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</p:grpSp>
        </p:grpSp>
      </p:grpSp>
      <p:grpSp>
        <p:nvGrpSpPr>
          <p:cNvPr id="257" name="组合 256"/>
          <p:cNvGrpSpPr/>
          <p:nvPr/>
        </p:nvGrpSpPr>
        <p:grpSpPr>
          <a:xfrm>
            <a:off x="655955" y="2129155"/>
            <a:ext cx="499745" cy="414020"/>
            <a:chOff x="786" y="2800"/>
            <a:chExt cx="787" cy="652"/>
          </a:xfrm>
        </p:grpSpPr>
        <p:pic>
          <p:nvPicPr>
            <p:cNvPr id="258" name="图片 257" descr="7e533b2c67d9cb4b025c13bb6513ccc9(2)"/>
            <p:cNvPicPr>
              <a:picLocks noChangeAspect="1"/>
            </p:cNvPicPr>
            <p:nvPr/>
          </p:nvPicPr>
          <p:blipFill>
            <a:blip r:embed="rId2"/>
            <a:srcRect l="3167" t="31683" r="92337" b="62135"/>
            <a:stretch>
              <a:fillRect/>
            </a:stretch>
          </p:blipFill>
          <p:spPr>
            <a:xfrm>
              <a:off x="888" y="2809"/>
              <a:ext cx="599" cy="643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  <p:grpSp>
          <p:nvGrpSpPr>
            <p:cNvPr id="259" name="组合 258"/>
            <p:cNvGrpSpPr/>
            <p:nvPr/>
          </p:nvGrpSpPr>
          <p:grpSpPr>
            <a:xfrm>
              <a:off x="786" y="2800"/>
              <a:ext cx="96" cy="652"/>
              <a:chOff x="1380" y="1503"/>
              <a:chExt cx="96" cy="652"/>
            </a:xfrm>
          </p:grpSpPr>
          <p:sp>
            <p:nvSpPr>
              <p:cNvPr id="260" name="矩形 259"/>
              <p:cNvSpPr/>
              <p:nvPr/>
            </p:nvSpPr>
            <p:spPr>
              <a:xfrm>
                <a:off x="1380" y="1503"/>
                <a:ext cx="96" cy="653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0">
                <a:srgbClr val="FFFFFF"/>
              </a:lnRef>
              <a:fillRef idx="1">
                <a:prstClr val="black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grpSp>
            <p:nvGrpSpPr>
              <p:cNvPr id="261" name="组合 260"/>
              <p:cNvGrpSpPr/>
              <p:nvPr/>
            </p:nvGrpSpPr>
            <p:grpSpPr>
              <a:xfrm rot="0">
                <a:off x="1400" y="1513"/>
                <a:ext cx="56" cy="633"/>
                <a:chOff x="1292" y="1499"/>
                <a:chExt cx="56" cy="633"/>
              </a:xfrm>
            </p:grpSpPr>
            <p:sp>
              <p:nvSpPr>
                <p:cNvPr id="262" name="矩形 261"/>
                <p:cNvSpPr/>
                <p:nvPr/>
              </p:nvSpPr>
              <p:spPr>
                <a:xfrm>
                  <a:off x="1292" y="1884"/>
                  <a:ext cx="57" cy="5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endParaRPr lang="zh-CN" altLang="en-US">
                    <a:sym typeface="+mn-ea"/>
                  </a:endParaRPr>
                </a:p>
              </p:txBody>
            </p:sp>
            <p:sp>
              <p:nvSpPr>
                <p:cNvPr id="263" name="矩形 262"/>
                <p:cNvSpPr/>
                <p:nvPr/>
              </p:nvSpPr>
              <p:spPr>
                <a:xfrm>
                  <a:off x="1292" y="1980"/>
                  <a:ext cx="57" cy="5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endParaRPr lang="zh-CN" altLang="en-US">
                    <a:sym typeface="+mn-ea"/>
                  </a:endParaRPr>
                </a:p>
              </p:txBody>
            </p:sp>
            <p:sp>
              <p:nvSpPr>
                <p:cNvPr id="264" name="矩形 263"/>
                <p:cNvSpPr/>
                <p:nvPr/>
              </p:nvSpPr>
              <p:spPr>
                <a:xfrm>
                  <a:off x="1292" y="2076"/>
                  <a:ext cx="57" cy="5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endParaRPr lang="zh-CN" altLang="en-US">
                    <a:sym typeface="+mn-ea"/>
                  </a:endParaRPr>
                </a:p>
              </p:txBody>
            </p:sp>
            <p:sp>
              <p:nvSpPr>
                <p:cNvPr id="265" name="矩形 264"/>
                <p:cNvSpPr/>
                <p:nvPr/>
              </p:nvSpPr>
              <p:spPr>
                <a:xfrm>
                  <a:off x="1292" y="1596"/>
                  <a:ext cx="57" cy="5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endParaRPr lang="zh-CN" altLang="en-US">
                    <a:sym typeface="+mn-ea"/>
                  </a:endParaRPr>
                </a:p>
              </p:txBody>
            </p:sp>
            <p:sp>
              <p:nvSpPr>
                <p:cNvPr id="266" name="矩形 265"/>
                <p:cNvSpPr/>
                <p:nvPr/>
              </p:nvSpPr>
              <p:spPr>
                <a:xfrm>
                  <a:off x="1292" y="1692"/>
                  <a:ext cx="57" cy="5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endParaRPr lang="zh-CN" altLang="en-US">
                    <a:sym typeface="+mn-ea"/>
                  </a:endParaRPr>
                </a:p>
              </p:txBody>
            </p:sp>
            <p:sp>
              <p:nvSpPr>
                <p:cNvPr id="267" name="矩形 266"/>
                <p:cNvSpPr/>
                <p:nvPr/>
              </p:nvSpPr>
              <p:spPr>
                <a:xfrm>
                  <a:off x="1292" y="1788"/>
                  <a:ext cx="57" cy="5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endParaRPr lang="zh-CN" altLang="en-US">
                    <a:sym typeface="+mn-ea"/>
                  </a:endParaRPr>
                </a:p>
              </p:txBody>
            </p:sp>
            <p:sp>
              <p:nvSpPr>
                <p:cNvPr id="268" name="矩形 267"/>
                <p:cNvSpPr/>
                <p:nvPr/>
              </p:nvSpPr>
              <p:spPr>
                <a:xfrm>
                  <a:off x="1292" y="1499"/>
                  <a:ext cx="57" cy="5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</p:grpSp>
        </p:grpSp>
        <p:grpSp>
          <p:nvGrpSpPr>
            <p:cNvPr id="269" name="组合 268"/>
            <p:cNvGrpSpPr/>
            <p:nvPr/>
          </p:nvGrpSpPr>
          <p:grpSpPr>
            <a:xfrm>
              <a:off x="1477" y="2800"/>
              <a:ext cx="96" cy="652"/>
              <a:chOff x="1380" y="1503"/>
              <a:chExt cx="96" cy="652"/>
            </a:xfrm>
          </p:grpSpPr>
          <p:sp>
            <p:nvSpPr>
              <p:cNvPr id="270" name="矩形 269"/>
              <p:cNvSpPr/>
              <p:nvPr/>
            </p:nvSpPr>
            <p:spPr>
              <a:xfrm>
                <a:off x="1380" y="1503"/>
                <a:ext cx="96" cy="653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0">
                <a:srgbClr val="FFFFFF"/>
              </a:lnRef>
              <a:fillRef idx="1">
                <a:prstClr val="black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grpSp>
            <p:nvGrpSpPr>
              <p:cNvPr id="271" name="组合 270"/>
              <p:cNvGrpSpPr/>
              <p:nvPr/>
            </p:nvGrpSpPr>
            <p:grpSpPr>
              <a:xfrm rot="0">
                <a:off x="1400" y="1513"/>
                <a:ext cx="56" cy="633"/>
                <a:chOff x="1292" y="1499"/>
                <a:chExt cx="56" cy="633"/>
              </a:xfrm>
            </p:grpSpPr>
            <p:sp>
              <p:nvSpPr>
                <p:cNvPr id="272" name="矩形 271"/>
                <p:cNvSpPr/>
                <p:nvPr/>
              </p:nvSpPr>
              <p:spPr>
                <a:xfrm>
                  <a:off x="1292" y="1884"/>
                  <a:ext cx="57" cy="5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endParaRPr lang="zh-CN" altLang="en-US">
                    <a:sym typeface="+mn-ea"/>
                  </a:endParaRPr>
                </a:p>
              </p:txBody>
            </p:sp>
            <p:sp>
              <p:nvSpPr>
                <p:cNvPr id="273" name="矩形 272"/>
                <p:cNvSpPr/>
                <p:nvPr/>
              </p:nvSpPr>
              <p:spPr>
                <a:xfrm>
                  <a:off x="1292" y="1980"/>
                  <a:ext cx="57" cy="5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endParaRPr lang="zh-CN" altLang="en-US">
                    <a:sym typeface="+mn-ea"/>
                  </a:endParaRPr>
                </a:p>
              </p:txBody>
            </p:sp>
            <p:sp>
              <p:nvSpPr>
                <p:cNvPr id="274" name="矩形 273"/>
                <p:cNvSpPr/>
                <p:nvPr/>
              </p:nvSpPr>
              <p:spPr>
                <a:xfrm>
                  <a:off x="1292" y="2076"/>
                  <a:ext cx="57" cy="5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endParaRPr lang="zh-CN" altLang="en-US">
                    <a:sym typeface="+mn-ea"/>
                  </a:endParaRPr>
                </a:p>
              </p:txBody>
            </p:sp>
            <p:sp>
              <p:nvSpPr>
                <p:cNvPr id="275" name="矩形 274"/>
                <p:cNvSpPr/>
                <p:nvPr/>
              </p:nvSpPr>
              <p:spPr>
                <a:xfrm>
                  <a:off x="1292" y="1596"/>
                  <a:ext cx="57" cy="5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endParaRPr lang="zh-CN" altLang="en-US">
                    <a:sym typeface="+mn-ea"/>
                  </a:endParaRPr>
                </a:p>
              </p:txBody>
            </p:sp>
            <p:sp>
              <p:nvSpPr>
                <p:cNvPr id="276" name="矩形 275"/>
                <p:cNvSpPr/>
                <p:nvPr/>
              </p:nvSpPr>
              <p:spPr>
                <a:xfrm>
                  <a:off x="1292" y="1692"/>
                  <a:ext cx="57" cy="5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endParaRPr lang="zh-CN" altLang="en-US">
                    <a:sym typeface="+mn-ea"/>
                  </a:endParaRPr>
                </a:p>
              </p:txBody>
            </p:sp>
            <p:sp>
              <p:nvSpPr>
                <p:cNvPr id="277" name="矩形 276"/>
                <p:cNvSpPr/>
                <p:nvPr/>
              </p:nvSpPr>
              <p:spPr>
                <a:xfrm>
                  <a:off x="1292" y="1788"/>
                  <a:ext cx="57" cy="5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endParaRPr lang="zh-CN" altLang="en-US">
                    <a:sym typeface="+mn-ea"/>
                  </a:endParaRPr>
                </a:p>
              </p:txBody>
            </p:sp>
            <p:sp>
              <p:nvSpPr>
                <p:cNvPr id="278" name="矩形 277"/>
                <p:cNvSpPr/>
                <p:nvPr/>
              </p:nvSpPr>
              <p:spPr>
                <a:xfrm>
                  <a:off x="1292" y="1499"/>
                  <a:ext cx="57" cy="5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</p:grpSp>
        </p:grpSp>
      </p:grpSp>
      <p:grpSp>
        <p:nvGrpSpPr>
          <p:cNvPr id="234" name="组合 233"/>
          <p:cNvGrpSpPr/>
          <p:nvPr/>
        </p:nvGrpSpPr>
        <p:grpSpPr>
          <a:xfrm>
            <a:off x="704850" y="2181225"/>
            <a:ext cx="499745" cy="414020"/>
            <a:chOff x="786" y="2800"/>
            <a:chExt cx="787" cy="652"/>
          </a:xfrm>
        </p:grpSpPr>
        <p:pic>
          <p:nvPicPr>
            <p:cNvPr id="4" name="图片 3" descr="7e533b2c67d9cb4b025c13bb6513ccc9(2)"/>
            <p:cNvPicPr>
              <a:picLocks noChangeAspect="1"/>
            </p:cNvPicPr>
            <p:nvPr/>
          </p:nvPicPr>
          <p:blipFill>
            <a:blip r:embed="rId2"/>
            <a:srcRect l="3167" t="31683" r="92337" b="62135"/>
            <a:stretch>
              <a:fillRect/>
            </a:stretch>
          </p:blipFill>
          <p:spPr>
            <a:xfrm>
              <a:off x="888" y="2809"/>
              <a:ext cx="599" cy="643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  <p:grpSp>
          <p:nvGrpSpPr>
            <p:cNvPr id="223" name="组合 222"/>
            <p:cNvGrpSpPr/>
            <p:nvPr/>
          </p:nvGrpSpPr>
          <p:grpSpPr>
            <a:xfrm>
              <a:off x="786" y="2800"/>
              <a:ext cx="96" cy="652"/>
              <a:chOff x="1380" y="1503"/>
              <a:chExt cx="96" cy="652"/>
            </a:xfrm>
          </p:grpSpPr>
          <p:sp>
            <p:nvSpPr>
              <p:cNvPr id="221" name="矩形 220"/>
              <p:cNvSpPr/>
              <p:nvPr/>
            </p:nvSpPr>
            <p:spPr>
              <a:xfrm>
                <a:off x="1380" y="1503"/>
                <a:ext cx="96" cy="653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0">
                <a:srgbClr val="FFFFFF"/>
              </a:lnRef>
              <a:fillRef idx="1">
                <a:prstClr val="black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grpSp>
            <p:nvGrpSpPr>
              <p:cNvPr id="220" name="组合 219"/>
              <p:cNvGrpSpPr/>
              <p:nvPr/>
            </p:nvGrpSpPr>
            <p:grpSpPr>
              <a:xfrm rot="0">
                <a:off x="1400" y="1513"/>
                <a:ext cx="56" cy="633"/>
                <a:chOff x="1292" y="1499"/>
                <a:chExt cx="56" cy="633"/>
              </a:xfrm>
            </p:grpSpPr>
            <p:sp>
              <p:nvSpPr>
                <p:cNvPr id="213" name="矩形 212"/>
                <p:cNvSpPr/>
                <p:nvPr/>
              </p:nvSpPr>
              <p:spPr>
                <a:xfrm>
                  <a:off x="1292" y="1884"/>
                  <a:ext cx="57" cy="5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endParaRPr lang="zh-CN" altLang="en-US">
                    <a:sym typeface="+mn-ea"/>
                  </a:endParaRPr>
                </a:p>
              </p:txBody>
            </p:sp>
            <p:sp>
              <p:nvSpPr>
                <p:cNvPr id="214" name="矩形 213"/>
                <p:cNvSpPr/>
                <p:nvPr/>
              </p:nvSpPr>
              <p:spPr>
                <a:xfrm>
                  <a:off x="1292" y="1980"/>
                  <a:ext cx="57" cy="5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endParaRPr lang="zh-CN" altLang="en-US">
                    <a:sym typeface="+mn-ea"/>
                  </a:endParaRPr>
                </a:p>
              </p:txBody>
            </p:sp>
            <p:sp>
              <p:nvSpPr>
                <p:cNvPr id="215" name="矩形 214"/>
                <p:cNvSpPr/>
                <p:nvPr/>
              </p:nvSpPr>
              <p:spPr>
                <a:xfrm>
                  <a:off x="1292" y="2076"/>
                  <a:ext cx="57" cy="5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endParaRPr lang="zh-CN" altLang="en-US">
                    <a:sym typeface="+mn-ea"/>
                  </a:endParaRPr>
                </a:p>
              </p:txBody>
            </p:sp>
            <p:sp>
              <p:nvSpPr>
                <p:cNvPr id="216" name="矩形 215"/>
                <p:cNvSpPr/>
                <p:nvPr/>
              </p:nvSpPr>
              <p:spPr>
                <a:xfrm>
                  <a:off x="1292" y="1596"/>
                  <a:ext cx="57" cy="5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endParaRPr lang="zh-CN" altLang="en-US">
                    <a:sym typeface="+mn-ea"/>
                  </a:endParaRPr>
                </a:p>
              </p:txBody>
            </p:sp>
            <p:sp>
              <p:nvSpPr>
                <p:cNvPr id="217" name="矩形 216"/>
                <p:cNvSpPr/>
                <p:nvPr/>
              </p:nvSpPr>
              <p:spPr>
                <a:xfrm>
                  <a:off x="1292" y="1692"/>
                  <a:ext cx="57" cy="5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endParaRPr lang="zh-CN" altLang="en-US">
                    <a:sym typeface="+mn-ea"/>
                  </a:endParaRPr>
                </a:p>
              </p:txBody>
            </p:sp>
            <p:sp>
              <p:nvSpPr>
                <p:cNvPr id="218" name="矩形 217"/>
                <p:cNvSpPr/>
                <p:nvPr/>
              </p:nvSpPr>
              <p:spPr>
                <a:xfrm>
                  <a:off x="1292" y="1788"/>
                  <a:ext cx="57" cy="5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endParaRPr lang="zh-CN" altLang="en-US">
                    <a:sym typeface="+mn-ea"/>
                  </a:endParaRPr>
                </a:p>
              </p:txBody>
            </p:sp>
            <p:sp>
              <p:nvSpPr>
                <p:cNvPr id="219" name="矩形 218"/>
                <p:cNvSpPr/>
                <p:nvPr/>
              </p:nvSpPr>
              <p:spPr>
                <a:xfrm>
                  <a:off x="1292" y="1499"/>
                  <a:ext cx="57" cy="5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</p:grpSp>
        </p:grpSp>
        <p:grpSp>
          <p:nvGrpSpPr>
            <p:cNvPr id="224" name="组合 223"/>
            <p:cNvGrpSpPr/>
            <p:nvPr/>
          </p:nvGrpSpPr>
          <p:grpSpPr>
            <a:xfrm>
              <a:off x="1477" y="2800"/>
              <a:ext cx="96" cy="652"/>
              <a:chOff x="1380" y="1503"/>
              <a:chExt cx="96" cy="652"/>
            </a:xfrm>
          </p:grpSpPr>
          <p:sp>
            <p:nvSpPr>
              <p:cNvPr id="225" name="矩形 224"/>
              <p:cNvSpPr/>
              <p:nvPr/>
            </p:nvSpPr>
            <p:spPr>
              <a:xfrm>
                <a:off x="1380" y="1503"/>
                <a:ext cx="96" cy="653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0">
                <a:srgbClr val="FFFFFF"/>
              </a:lnRef>
              <a:fillRef idx="1">
                <a:prstClr val="black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grpSp>
            <p:nvGrpSpPr>
              <p:cNvPr id="226" name="组合 225"/>
              <p:cNvGrpSpPr/>
              <p:nvPr/>
            </p:nvGrpSpPr>
            <p:grpSpPr>
              <a:xfrm rot="0">
                <a:off x="1400" y="1513"/>
                <a:ext cx="56" cy="633"/>
                <a:chOff x="1292" y="1499"/>
                <a:chExt cx="56" cy="633"/>
              </a:xfrm>
            </p:grpSpPr>
            <p:sp>
              <p:nvSpPr>
                <p:cNvPr id="227" name="矩形 226"/>
                <p:cNvSpPr/>
                <p:nvPr/>
              </p:nvSpPr>
              <p:spPr>
                <a:xfrm>
                  <a:off x="1292" y="1884"/>
                  <a:ext cx="57" cy="5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endParaRPr lang="zh-CN" altLang="en-US">
                    <a:sym typeface="+mn-ea"/>
                  </a:endParaRPr>
                </a:p>
              </p:txBody>
            </p:sp>
            <p:sp>
              <p:nvSpPr>
                <p:cNvPr id="228" name="矩形 227"/>
                <p:cNvSpPr/>
                <p:nvPr/>
              </p:nvSpPr>
              <p:spPr>
                <a:xfrm>
                  <a:off x="1292" y="1980"/>
                  <a:ext cx="57" cy="5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endParaRPr lang="zh-CN" altLang="en-US">
                    <a:sym typeface="+mn-ea"/>
                  </a:endParaRPr>
                </a:p>
              </p:txBody>
            </p:sp>
            <p:sp>
              <p:nvSpPr>
                <p:cNvPr id="229" name="矩形 228"/>
                <p:cNvSpPr/>
                <p:nvPr/>
              </p:nvSpPr>
              <p:spPr>
                <a:xfrm>
                  <a:off x="1292" y="2076"/>
                  <a:ext cx="57" cy="5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endParaRPr lang="zh-CN" altLang="en-US">
                    <a:sym typeface="+mn-ea"/>
                  </a:endParaRPr>
                </a:p>
              </p:txBody>
            </p:sp>
            <p:sp>
              <p:nvSpPr>
                <p:cNvPr id="230" name="矩形 229"/>
                <p:cNvSpPr/>
                <p:nvPr/>
              </p:nvSpPr>
              <p:spPr>
                <a:xfrm>
                  <a:off x="1292" y="1596"/>
                  <a:ext cx="57" cy="5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endParaRPr lang="zh-CN" altLang="en-US">
                    <a:sym typeface="+mn-ea"/>
                  </a:endParaRPr>
                </a:p>
              </p:txBody>
            </p:sp>
            <p:sp>
              <p:nvSpPr>
                <p:cNvPr id="231" name="矩形 230"/>
                <p:cNvSpPr/>
                <p:nvPr/>
              </p:nvSpPr>
              <p:spPr>
                <a:xfrm>
                  <a:off x="1292" y="1692"/>
                  <a:ext cx="57" cy="5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endParaRPr lang="zh-CN" altLang="en-US">
                    <a:sym typeface="+mn-ea"/>
                  </a:endParaRPr>
                </a:p>
              </p:txBody>
            </p:sp>
            <p:sp>
              <p:nvSpPr>
                <p:cNvPr id="232" name="矩形 231"/>
                <p:cNvSpPr/>
                <p:nvPr/>
              </p:nvSpPr>
              <p:spPr>
                <a:xfrm>
                  <a:off x="1292" y="1788"/>
                  <a:ext cx="57" cy="5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endParaRPr lang="zh-CN" altLang="en-US">
                    <a:sym typeface="+mn-ea"/>
                  </a:endParaRPr>
                </a:p>
              </p:txBody>
            </p:sp>
            <p:sp>
              <p:nvSpPr>
                <p:cNvPr id="233" name="矩形 232"/>
                <p:cNvSpPr/>
                <p:nvPr/>
              </p:nvSpPr>
              <p:spPr>
                <a:xfrm>
                  <a:off x="1292" y="1499"/>
                  <a:ext cx="57" cy="5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</p:grpSp>
        </p:grpSp>
      </p:grpSp>
      <p:grpSp>
        <p:nvGrpSpPr>
          <p:cNvPr id="279" name="组合 278"/>
          <p:cNvGrpSpPr/>
          <p:nvPr/>
        </p:nvGrpSpPr>
        <p:grpSpPr>
          <a:xfrm>
            <a:off x="753745" y="2235835"/>
            <a:ext cx="499745" cy="414020"/>
            <a:chOff x="786" y="2800"/>
            <a:chExt cx="787" cy="652"/>
          </a:xfrm>
        </p:grpSpPr>
        <p:pic>
          <p:nvPicPr>
            <p:cNvPr id="280" name="图片 279" descr="7e533b2c67d9cb4b025c13bb6513ccc9(2)"/>
            <p:cNvPicPr>
              <a:picLocks noChangeAspect="1"/>
            </p:cNvPicPr>
            <p:nvPr/>
          </p:nvPicPr>
          <p:blipFill>
            <a:blip r:embed="rId2"/>
            <a:srcRect l="3167" t="31683" r="92337" b="62135"/>
            <a:stretch>
              <a:fillRect/>
            </a:stretch>
          </p:blipFill>
          <p:spPr>
            <a:xfrm>
              <a:off x="888" y="2809"/>
              <a:ext cx="599" cy="643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  <p:grpSp>
          <p:nvGrpSpPr>
            <p:cNvPr id="281" name="组合 280"/>
            <p:cNvGrpSpPr/>
            <p:nvPr/>
          </p:nvGrpSpPr>
          <p:grpSpPr>
            <a:xfrm>
              <a:off x="786" y="2800"/>
              <a:ext cx="96" cy="652"/>
              <a:chOff x="1380" y="1503"/>
              <a:chExt cx="96" cy="652"/>
            </a:xfrm>
          </p:grpSpPr>
          <p:sp>
            <p:nvSpPr>
              <p:cNvPr id="282" name="矩形 281"/>
              <p:cNvSpPr/>
              <p:nvPr/>
            </p:nvSpPr>
            <p:spPr>
              <a:xfrm>
                <a:off x="1380" y="1503"/>
                <a:ext cx="96" cy="653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0">
                <a:srgbClr val="FFFFFF"/>
              </a:lnRef>
              <a:fillRef idx="1">
                <a:prstClr val="black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grpSp>
            <p:nvGrpSpPr>
              <p:cNvPr id="283" name="组合 282"/>
              <p:cNvGrpSpPr/>
              <p:nvPr/>
            </p:nvGrpSpPr>
            <p:grpSpPr>
              <a:xfrm rot="0">
                <a:off x="1400" y="1513"/>
                <a:ext cx="56" cy="633"/>
                <a:chOff x="1292" y="1499"/>
                <a:chExt cx="56" cy="633"/>
              </a:xfrm>
            </p:grpSpPr>
            <p:sp>
              <p:nvSpPr>
                <p:cNvPr id="284" name="矩形 283"/>
                <p:cNvSpPr/>
                <p:nvPr/>
              </p:nvSpPr>
              <p:spPr>
                <a:xfrm>
                  <a:off x="1292" y="1884"/>
                  <a:ext cx="57" cy="5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endParaRPr lang="zh-CN" altLang="en-US">
                    <a:sym typeface="+mn-ea"/>
                  </a:endParaRPr>
                </a:p>
              </p:txBody>
            </p:sp>
            <p:sp>
              <p:nvSpPr>
                <p:cNvPr id="285" name="矩形 284"/>
                <p:cNvSpPr/>
                <p:nvPr/>
              </p:nvSpPr>
              <p:spPr>
                <a:xfrm>
                  <a:off x="1292" y="1980"/>
                  <a:ext cx="57" cy="5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endParaRPr lang="zh-CN" altLang="en-US">
                    <a:sym typeface="+mn-ea"/>
                  </a:endParaRPr>
                </a:p>
              </p:txBody>
            </p:sp>
            <p:sp>
              <p:nvSpPr>
                <p:cNvPr id="286" name="矩形 285"/>
                <p:cNvSpPr/>
                <p:nvPr/>
              </p:nvSpPr>
              <p:spPr>
                <a:xfrm>
                  <a:off x="1292" y="2076"/>
                  <a:ext cx="57" cy="5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endParaRPr lang="zh-CN" altLang="en-US">
                    <a:sym typeface="+mn-ea"/>
                  </a:endParaRPr>
                </a:p>
              </p:txBody>
            </p:sp>
            <p:sp>
              <p:nvSpPr>
                <p:cNvPr id="287" name="矩形 286"/>
                <p:cNvSpPr/>
                <p:nvPr/>
              </p:nvSpPr>
              <p:spPr>
                <a:xfrm>
                  <a:off x="1292" y="1596"/>
                  <a:ext cx="57" cy="5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endParaRPr lang="zh-CN" altLang="en-US">
                    <a:sym typeface="+mn-ea"/>
                  </a:endParaRPr>
                </a:p>
              </p:txBody>
            </p:sp>
            <p:sp>
              <p:nvSpPr>
                <p:cNvPr id="288" name="矩形 287"/>
                <p:cNvSpPr/>
                <p:nvPr/>
              </p:nvSpPr>
              <p:spPr>
                <a:xfrm>
                  <a:off x="1292" y="1692"/>
                  <a:ext cx="57" cy="5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endParaRPr lang="zh-CN" altLang="en-US">
                    <a:sym typeface="+mn-ea"/>
                  </a:endParaRPr>
                </a:p>
              </p:txBody>
            </p:sp>
            <p:sp>
              <p:nvSpPr>
                <p:cNvPr id="289" name="矩形 288"/>
                <p:cNvSpPr/>
                <p:nvPr/>
              </p:nvSpPr>
              <p:spPr>
                <a:xfrm>
                  <a:off x="1292" y="1788"/>
                  <a:ext cx="57" cy="5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endParaRPr lang="zh-CN" altLang="en-US">
                    <a:sym typeface="+mn-ea"/>
                  </a:endParaRPr>
                </a:p>
              </p:txBody>
            </p:sp>
            <p:sp>
              <p:nvSpPr>
                <p:cNvPr id="290" name="矩形 289"/>
                <p:cNvSpPr/>
                <p:nvPr/>
              </p:nvSpPr>
              <p:spPr>
                <a:xfrm>
                  <a:off x="1292" y="1499"/>
                  <a:ext cx="57" cy="5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</p:grpSp>
        </p:grpSp>
        <p:grpSp>
          <p:nvGrpSpPr>
            <p:cNvPr id="291" name="组合 290"/>
            <p:cNvGrpSpPr/>
            <p:nvPr/>
          </p:nvGrpSpPr>
          <p:grpSpPr>
            <a:xfrm>
              <a:off x="1477" y="2800"/>
              <a:ext cx="96" cy="652"/>
              <a:chOff x="1380" y="1503"/>
              <a:chExt cx="96" cy="652"/>
            </a:xfrm>
          </p:grpSpPr>
          <p:sp>
            <p:nvSpPr>
              <p:cNvPr id="292" name="矩形 291"/>
              <p:cNvSpPr/>
              <p:nvPr/>
            </p:nvSpPr>
            <p:spPr>
              <a:xfrm>
                <a:off x="1380" y="1503"/>
                <a:ext cx="96" cy="653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0">
                <a:srgbClr val="FFFFFF"/>
              </a:lnRef>
              <a:fillRef idx="1">
                <a:prstClr val="black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grpSp>
            <p:nvGrpSpPr>
              <p:cNvPr id="293" name="组合 292"/>
              <p:cNvGrpSpPr/>
              <p:nvPr/>
            </p:nvGrpSpPr>
            <p:grpSpPr>
              <a:xfrm rot="0">
                <a:off x="1400" y="1513"/>
                <a:ext cx="56" cy="633"/>
                <a:chOff x="1292" y="1499"/>
                <a:chExt cx="56" cy="633"/>
              </a:xfrm>
            </p:grpSpPr>
            <p:sp>
              <p:nvSpPr>
                <p:cNvPr id="294" name="矩形 293"/>
                <p:cNvSpPr/>
                <p:nvPr/>
              </p:nvSpPr>
              <p:spPr>
                <a:xfrm>
                  <a:off x="1292" y="1884"/>
                  <a:ext cx="57" cy="5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endParaRPr lang="zh-CN" altLang="en-US">
                    <a:sym typeface="+mn-ea"/>
                  </a:endParaRPr>
                </a:p>
              </p:txBody>
            </p:sp>
            <p:sp>
              <p:nvSpPr>
                <p:cNvPr id="295" name="矩形 294"/>
                <p:cNvSpPr/>
                <p:nvPr/>
              </p:nvSpPr>
              <p:spPr>
                <a:xfrm>
                  <a:off x="1292" y="1980"/>
                  <a:ext cx="57" cy="5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endParaRPr lang="zh-CN" altLang="en-US">
                    <a:sym typeface="+mn-ea"/>
                  </a:endParaRPr>
                </a:p>
              </p:txBody>
            </p:sp>
            <p:sp>
              <p:nvSpPr>
                <p:cNvPr id="296" name="矩形 295"/>
                <p:cNvSpPr/>
                <p:nvPr/>
              </p:nvSpPr>
              <p:spPr>
                <a:xfrm>
                  <a:off x="1292" y="2076"/>
                  <a:ext cx="57" cy="5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endParaRPr lang="zh-CN" altLang="en-US">
                    <a:sym typeface="+mn-ea"/>
                  </a:endParaRPr>
                </a:p>
              </p:txBody>
            </p:sp>
            <p:sp>
              <p:nvSpPr>
                <p:cNvPr id="297" name="矩形 296"/>
                <p:cNvSpPr/>
                <p:nvPr/>
              </p:nvSpPr>
              <p:spPr>
                <a:xfrm>
                  <a:off x="1292" y="1596"/>
                  <a:ext cx="57" cy="5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endParaRPr lang="zh-CN" altLang="en-US">
                    <a:sym typeface="+mn-ea"/>
                  </a:endParaRPr>
                </a:p>
              </p:txBody>
            </p:sp>
            <p:sp>
              <p:nvSpPr>
                <p:cNvPr id="298" name="矩形 297"/>
                <p:cNvSpPr/>
                <p:nvPr/>
              </p:nvSpPr>
              <p:spPr>
                <a:xfrm>
                  <a:off x="1292" y="1692"/>
                  <a:ext cx="57" cy="5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endParaRPr lang="zh-CN" altLang="en-US">
                    <a:sym typeface="+mn-ea"/>
                  </a:endParaRPr>
                </a:p>
              </p:txBody>
            </p:sp>
            <p:sp>
              <p:nvSpPr>
                <p:cNvPr id="299" name="矩形 298"/>
                <p:cNvSpPr/>
                <p:nvPr/>
              </p:nvSpPr>
              <p:spPr>
                <a:xfrm>
                  <a:off x="1292" y="1788"/>
                  <a:ext cx="57" cy="5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endParaRPr lang="zh-CN" altLang="en-US">
                    <a:sym typeface="+mn-ea"/>
                  </a:endParaRPr>
                </a:p>
              </p:txBody>
            </p:sp>
            <p:sp>
              <p:nvSpPr>
                <p:cNvPr id="300" name="矩形 299"/>
                <p:cNvSpPr/>
                <p:nvPr/>
              </p:nvSpPr>
              <p:spPr>
                <a:xfrm>
                  <a:off x="1292" y="1499"/>
                  <a:ext cx="57" cy="5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</p:grpSp>
        </p:grpSp>
      </p:grpSp>
      <p:cxnSp>
        <p:nvCxnSpPr>
          <p:cNvPr id="301" name="直接箭头连接符 300"/>
          <p:cNvCxnSpPr/>
          <p:nvPr/>
        </p:nvCxnSpPr>
        <p:spPr>
          <a:xfrm>
            <a:off x="1261110" y="2382520"/>
            <a:ext cx="160020" cy="190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1275</Words>
  <Application>WPS 演示</Application>
  <PresentationFormat>宽屏</PresentationFormat>
  <Paragraphs>185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宋体</vt:lpstr>
      <vt:lpstr>Wingdings</vt:lpstr>
      <vt:lpstr>Wingdings</vt:lpstr>
      <vt:lpstr>Cambria Math</vt:lpstr>
      <vt:lpstr>MS Mincho</vt:lpstr>
      <vt:lpstr>AMGDT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糖果女孩</cp:lastModifiedBy>
  <cp:revision>162</cp:revision>
  <dcterms:created xsi:type="dcterms:W3CDTF">2019-06-19T02:08:00Z</dcterms:created>
  <dcterms:modified xsi:type="dcterms:W3CDTF">2026-05-13T12:12:49Z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8E6E92796A2D425ABB76D48D6FA8DE70_11</vt:lpwstr>
  </property>
</Properties>
</file>